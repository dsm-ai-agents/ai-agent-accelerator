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A"/>
          </a:solidFill>
          <a:ln/>
        </p:spPr>
      </p:sp>
      <p:sp>
        <p:nvSpPr>
          <p:cNvPr id="3" name="Shape 1"/>
          <p:cNvSpPr/>
          <p:nvPr/>
        </p:nvSpPr>
        <p:spPr>
          <a:xfrm>
            <a:off x="0" y="5074920"/>
            <a:ext cx="12188952" cy="36576"/>
          </a:xfrm>
          <a:prstGeom prst="rect">
            <a:avLst/>
          </a:prstGeom>
          <a:solidFill>
            <a:srgbClr val="9E1B32"/>
          </a:solidFill>
          <a:ln/>
        </p:spPr>
      </p:sp>
      <p:sp>
        <p:nvSpPr>
          <p:cNvPr id="4" name="Text 2"/>
          <p:cNvSpPr/>
          <p:nvPr/>
        </p:nvSpPr>
        <p:spPr>
          <a:xfrm>
            <a:off x="822960" y="2331720"/>
            <a:ext cx="10515600" cy="365760"/>
          </a:xfrm>
          <a:prstGeom prst="rect">
            <a:avLst/>
          </a:prstGeom>
          <a:noFill/>
          <a:ln/>
        </p:spPr>
        <p:txBody>
          <a:bodyPr wrap="square" lIns="0" tIns="0" rIns="0" bIns="0" rtlCol="0" anchor="ctr"/>
          <a:lstStyle/>
          <a:p>
            <a:pPr indent="0" marL="0">
              <a:buNone/>
            </a:pPr>
            <a:r>
              <a:rPr lang="en-US" sz="1400" b="1" spc="200" kern="0" dirty="0">
                <a:solidFill>
                  <a:srgbClr val="C0394B"/>
                </a:solidFill>
                <a:latin typeface="Calibri" pitchFamily="34" charset="0"/>
                <a:ea typeface="Calibri" pitchFamily="34" charset="-122"/>
                <a:cs typeface="Calibri" pitchFamily="34" charset="-120"/>
              </a:rPr>
              <a:t>AI CUSTOMER SUPPORT AUTOMATION</a:t>
            </a:r>
            <a:endParaRPr lang="en-US" sz="1400" dirty="0"/>
          </a:p>
        </p:txBody>
      </p:sp>
      <p:sp>
        <p:nvSpPr>
          <p:cNvPr id="5" name="Text 3"/>
          <p:cNvSpPr/>
          <p:nvPr/>
        </p:nvSpPr>
        <p:spPr>
          <a:xfrm>
            <a:off x="822960" y="269748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Proposal for ABC Electronics</a:t>
            </a:r>
            <a:endParaRPr lang="en-US" sz="4400" dirty="0"/>
          </a:p>
        </p:txBody>
      </p:sp>
      <p:sp>
        <p:nvSpPr>
          <p:cNvPr id="6" name="Text 4"/>
          <p:cNvSpPr/>
          <p:nvPr/>
        </p:nvSpPr>
        <p:spPr>
          <a:xfrm>
            <a:off x="822960" y="3703320"/>
            <a:ext cx="9601200" cy="731520"/>
          </a:xfrm>
          <a:prstGeom prst="rect">
            <a:avLst/>
          </a:prstGeom>
          <a:noFill/>
          <a:ln/>
        </p:spPr>
        <p:txBody>
          <a:bodyPr wrap="square" lIns="0" tIns="0" rIns="0" bIns="0" rtlCol="0" anchor="ctr"/>
          <a:lstStyle/>
          <a:p>
            <a:pPr indent="0" marL="0">
              <a:buNone/>
            </a:pPr>
            <a:r>
              <a:rPr lang="en-US" sz="1500" i="1" dirty="0">
                <a:solidFill>
                  <a:srgbClr val="CFCFCF"/>
                </a:solidFill>
                <a:latin typeface="Calibri" pitchFamily="34" charset="0"/>
                <a:ea typeface="Calibri" pitchFamily="34" charset="-122"/>
                <a:cs typeface="Calibri" pitchFamily="34" charset="-120"/>
              </a:rPr>
              <a:t>Cutting response times from hours to minutes — and automating up to 80% of routine support, without adding headcount.</a:t>
            </a:r>
            <a:endParaRPr lang="en-US" sz="1500" dirty="0"/>
          </a:p>
        </p:txBody>
      </p:sp>
      <p:sp>
        <p:nvSpPr>
          <p:cNvPr id="7" name="Text 5"/>
          <p:cNvSpPr/>
          <p:nvPr/>
        </p:nvSpPr>
        <p:spPr>
          <a:xfrm>
            <a:off x="822960" y="5394960"/>
            <a:ext cx="2743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Prepared by</a:t>
            </a:r>
            <a:endParaRPr lang="en-US" sz="1000" dirty="0"/>
          </a:p>
        </p:txBody>
      </p:sp>
      <p:sp>
        <p:nvSpPr>
          <p:cNvPr id="8" name="Text 6"/>
          <p:cNvSpPr/>
          <p:nvPr/>
        </p:nvSpPr>
        <p:spPr>
          <a:xfrm>
            <a:off x="822960" y="562356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[Your Consulting Firm Name]</a:t>
            </a:r>
            <a:endParaRPr lang="en-US" sz="1300" dirty="0"/>
          </a:p>
        </p:txBody>
      </p:sp>
      <p:sp>
        <p:nvSpPr>
          <p:cNvPr id="9" name="Text 7"/>
          <p:cNvSpPr/>
          <p:nvPr/>
        </p:nvSpPr>
        <p:spPr>
          <a:xfrm>
            <a:off x="4754880" y="5394960"/>
            <a:ext cx="2743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Date</a:t>
            </a:r>
            <a:endParaRPr lang="en-US" sz="1000" dirty="0"/>
          </a:p>
        </p:txBody>
      </p:sp>
      <p:sp>
        <p:nvSpPr>
          <p:cNvPr id="10" name="Text 8"/>
          <p:cNvSpPr/>
          <p:nvPr/>
        </p:nvSpPr>
        <p:spPr>
          <a:xfrm>
            <a:off x="4754880" y="562356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July 26, 2026</a:t>
            </a:r>
            <a:endParaRPr lang="en-US" sz="1300" dirty="0"/>
          </a:p>
        </p:txBody>
      </p:sp>
      <p:sp>
        <p:nvSpPr>
          <p:cNvPr id="11" name="Text 9"/>
          <p:cNvSpPr/>
          <p:nvPr/>
        </p:nvSpPr>
        <p:spPr>
          <a:xfrm>
            <a:off x="8686800" y="5394960"/>
            <a:ext cx="2743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Client</a:t>
            </a:r>
            <a:endParaRPr lang="en-US" sz="1000" dirty="0"/>
          </a:p>
        </p:txBody>
      </p:sp>
      <p:sp>
        <p:nvSpPr>
          <p:cNvPr id="12" name="Text 10"/>
          <p:cNvSpPr/>
          <p:nvPr/>
        </p:nvSpPr>
        <p:spPr>
          <a:xfrm>
            <a:off x="8686800" y="5623560"/>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ABC Electronics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A clear path from overloaded support to 24/7 automated service</a:t>
            </a:r>
            <a:endParaRPr lang="en-US" sz="2800" dirty="0"/>
          </a:p>
        </p:txBody>
      </p:sp>
      <p:sp>
        <p:nvSpPr>
          <p:cNvPr id="4" name="Text 2"/>
          <p:cNvSpPr/>
          <p:nvPr/>
        </p:nvSpPr>
        <p:spPr>
          <a:xfrm>
            <a:off x="548640" y="1554480"/>
            <a:ext cx="6492240" cy="1371600"/>
          </a:xfrm>
          <a:prstGeom prst="rect">
            <a:avLst/>
          </a:prstGeom>
          <a:noFill/>
          <a:ln/>
        </p:spPr>
        <p:txBody>
          <a:bodyPr wrap="square" lIns="0" tIns="0" rIns="0" bIns="0" rtlCol="0" anchor="t"/>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The situation. </a:t>
            </a:r>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ABC Electronics, a fast-growing online consumer electronics retailer, handles ~300 customer queries a day across WhatsApp, email, and web with just 8 full-time agents — resulting in 4–6 hour response times, no after-hours coverage, and limited visibility into support performance.</a:t>
            </a:r>
            <a:endParaRPr lang="en-US" sz="1300" dirty="0"/>
          </a:p>
        </p:txBody>
      </p:sp>
      <p:sp>
        <p:nvSpPr>
          <p:cNvPr id="5" name="Text 3"/>
          <p:cNvSpPr/>
          <p:nvPr/>
        </p:nvSpPr>
        <p:spPr>
          <a:xfrm>
            <a:off x="548640" y="2971800"/>
            <a:ext cx="6492240" cy="1280160"/>
          </a:xfrm>
          <a:prstGeom prst="rect">
            <a:avLst/>
          </a:prstGeom>
          <a:noFill/>
          <a:ln/>
        </p:spPr>
        <p:txBody>
          <a:bodyPr wrap="square" lIns="0" tIns="0" rIns="0" bIns="0" rtlCol="0" anchor="t"/>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The recommendation. </a:t>
            </a:r>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Deploy an AI Customer Support Agent — FAQ automation, order tracking, returns handling, WhatsApp/web channels, human escalation, and an analytics dashboard — delivered over a 6-week implementation.</a:t>
            </a:r>
            <a:endParaRPr lang="en-US" sz="1300" dirty="0"/>
          </a:p>
        </p:txBody>
      </p:sp>
      <p:sp>
        <p:nvSpPr>
          <p:cNvPr id="6" name="Text 4"/>
          <p:cNvSpPr/>
          <p:nvPr/>
        </p:nvSpPr>
        <p:spPr>
          <a:xfrm>
            <a:off x="548640" y="4251960"/>
            <a:ext cx="6492240" cy="1280160"/>
          </a:xfrm>
          <a:prstGeom prst="rect">
            <a:avLst/>
          </a:prstGeom>
          <a:noFill/>
          <a:ln/>
        </p:spPr>
        <p:txBody>
          <a:bodyPr wrap="square" lIns="0" tIns="0" rIns="0" bIns="0" rtlCol="0" anchor="t"/>
          <a:lstStyle/>
          <a:p>
            <a:pPr indent="0" marL="0">
              <a:lnSpc>
                <a:spcPct val="125000"/>
              </a:lnSpc>
              <a:buNone/>
            </a:pPr>
            <a:r>
              <a:rPr lang="en-US" sz="1300" b="1" dirty="0">
                <a:solidFill>
                  <a:srgbClr val="1A1A1A"/>
                </a:solidFill>
                <a:latin typeface="Calibri" pitchFamily="34" charset="0"/>
                <a:ea typeface="Calibri" pitchFamily="34" charset="-122"/>
                <a:cs typeface="Calibri" pitchFamily="34" charset="-120"/>
              </a:rPr>
              <a:t>The outcome. </a:t>
            </a:r>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Sub-5-minute response times, 80% automated resolution, a 30% reduction in manual workload, and full 24/7 coverage — with industry benchmarks pointing to ROI payback in 3–6 months.</a:t>
            </a:r>
            <a:endParaRPr lang="en-US" sz="1300" dirty="0"/>
          </a:p>
        </p:txBody>
      </p:sp>
      <p:sp>
        <p:nvSpPr>
          <p:cNvPr id="7" name="Shape 5"/>
          <p:cNvSpPr/>
          <p:nvPr/>
        </p:nvSpPr>
        <p:spPr>
          <a:xfrm>
            <a:off x="7406640" y="1554480"/>
            <a:ext cx="4206240" cy="1051560"/>
          </a:xfrm>
          <a:prstGeom prst="rect">
            <a:avLst/>
          </a:prstGeom>
          <a:solidFill>
            <a:srgbClr val="FFFFFF"/>
          </a:solidFill>
          <a:ln w="12700">
            <a:solidFill>
              <a:srgbClr val="E0E0E0"/>
            </a:solidFill>
            <a:prstDash val="solid"/>
          </a:ln>
        </p:spPr>
      </p:sp>
      <p:sp>
        <p:nvSpPr>
          <p:cNvPr id="8" name="Shape 6"/>
          <p:cNvSpPr/>
          <p:nvPr/>
        </p:nvSpPr>
        <p:spPr>
          <a:xfrm>
            <a:off x="7406640" y="1554480"/>
            <a:ext cx="4206240" cy="54864"/>
          </a:xfrm>
          <a:prstGeom prst="rect">
            <a:avLst/>
          </a:prstGeom>
          <a:solidFill>
            <a:srgbClr val="9E1B32"/>
          </a:solidFill>
          <a:ln/>
        </p:spPr>
      </p:sp>
      <p:sp>
        <p:nvSpPr>
          <p:cNvPr id="9" name="Text 7"/>
          <p:cNvSpPr/>
          <p:nvPr/>
        </p:nvSpPr>
        <p:spPr>
          <a:xfrm>
            <a:off x="7543800" y="1810512"/>
            <a:ext cx="3931920" cy="36576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&lt;5 min</a:t>
            </a:r>
            <a:endParaRPr lang="en-US" sz="2600" dirty="0"/>
          </a:p>
        </p:txBody>
      </p:sp>
      <p:sp>
        <p:nvSpPr>
          <p:cNvPr id="10" name="Text 8"/>
          <p:cNvSpPr/>
          <p:nvPr/>
        </p:nvSpPr>
        <p:spPr>
          <a:xfrm>
            <a:off x="7543800" y="2167128"/>
            <a:ext cx="393192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Target response time (from 4–6 hrs)</a:t>
            </a:r>
            <a:endParaRPr lang="en-US" sz="1100" dirty="0"/>
          </a:p>
        </p:txBody>
      </p:sp>
      <p:sp>
        <p:nvSpPr>
          <p:cNvPr id="11" name="Shape 9"/>
          <p:cNvSpPr/>
          <p:nvPr/>
        </p:nvSpPr>
        <p:spPr>
          <a:xfrm>
            <a:off x="7406640" y="2761488"/>
            <a:ext cx="4206240" cy="1051560"/>
          </a:xfrm>
          <a:prstGeom prst="rect">
            <a:avLst/>
          </a:prstGeom>
          <a:solidFill>
            <a:srgbClr val="FFFFFF"/>
          </a:solidFill>
          <a:ln w="12700">
            <a:solidFill>
              <a:srgbClr val="E0E0E0"/>
            </a:solidFill>
            <a:prstDash val="solid"/>
          </a:ln>
        </p:spPr>
      </p:sp>
      <p:sp>
        <p:nvSpPr>
          <p:cNvPr id="12" name="Shape 10"/>
          <p:cNvSpPr/>
          <p:nvPr/>
        </p:nvSpPr>
        <p:spPr>
          <a:xfrm>
            <a:off x="7406640" y="2761488"/>
            <a:ext cx="4206240" cy="54864"/>
          </a:xfrm>
          <a:prstGeom prst="rect">
            <a:avLst/>
          </a:prstGeom>
          <a:solidFill>
            <a:srgbClr val="9E1B32"/>
          </a:solidFill>
          <a:ln/>
        </p:spPr>
      </p:sp>
      <p:sp>
        <p:nvSpPr>
          <p:cNvPr id="13" name="Text 11"/>
          <p:cNvSpPr/>
          <p:nvPr/>
        </p:nvSpPr>
        <p:spPr>
          <a:xfrm>
            <a:off x="7543800" y="3017520"/>
            <a:ext cx="3931920" cy="36576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80%</a:t>
            </a:r>
            <a:endParaRPr lang="en-US" sz="2600" dirty="0"/>
          </a:p>
        </p:txBody>
      </p:sp>
      <p:sp>
        <p:nvSpPr>
          <p:cNvPr id="14" name="Text 12"/>
          <p:cNvSpPr/>
          <p:nvPr/>
        </p:nvSpPr>
        <p:spPr>
          <a:xfrm>
            <a:off x="7543800" y="3374136"/>
            <a:ext cx="393192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Queries automated</a:t>
            </a:r>
            <a:endParaRPr lang="en-US" sz="1100" dirty="0"/>
          </a:p>
        </p:txBody>
      </p:sp>
      <p:sp>
        <p:nvSpPr>
          <p:cNvPr id="15" name="Shape 13"/>
          <p:cNvSpPr/>
          <p:nvPr/>
        </p:nvSpPr>
        <p:spPr>
          <a:xfrm>
            <a:off x="7406640" y="3968496"/>
            <a:ext cx="4206240" cy="1051560"/>
          </a:xfrm>
          <a:prstGeom prst="rect">
            <a:avLst/>
          </a:prstGeom>
          <a:solidFill>
            <a:srgbClr val="FFFFFF"/>
          </a:solidFill>
          <a:ln w="12700">
            <a:solidFill>
              <a:srgbClr val="E0E0E0"/>
            </a:solidFill>
            <a:prstDash val="solid"/>
          </a:ln>
        </p:spPr>
      </p:sp>
      <p:sp>
        <p:nvSpPr>
          <p:cNvPr id="16" name="Shape 14"/>
          <p:cNvSpPr/>
          <p:nvPr/>
        </p:nvSpPr>
        <p:spPr>
          <a:xfrm>
            <a:off x="7406640" y="3968496"/>
            <a:ext cx="4206240" cy="54864"/>
          </a:xfrm>
          <a:prstGeom prst="rect">
            <a:avLst/>
          </a:prstGeom>
          <a:solidFill>
            <a:srgbClr val="9E1B32"/>
          </a:solidFill>
          <a:ln/>
        </p:spPr>
      </p:sp>
      <p:sp>
        <p:nvSpPr>
          <p:cNvPr id="17" name="Text 15"/>
          <p:cNvSpPr/>
          <p:nvPr/>
        </p:nvSpPr>
        <p:spPr>
          <a:xfrm>
            <a:off x="7543800" y="4224528"/>
            <a:ext cx="3931920" cy="36576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24/7</a:t>
            </a:r>
            <a:endParaRPr lang="en-US" sz="2600" dirty="0"/>
          </a:p>
        </p:txBody>
      </p:sp>
      <p:sp>
        <p:nvSpPr>
          <p:cNvPr id="18" name="Text 16"/>
          <p:cNvSpPr/>
          <p:nvPr/>
        </p:nvSpPr>
        <p:spPr>
          <a:xfrm>
            <a:off x="7543800" y="4581144"/>
            <a:ext cx="393192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Support coverage</a:t>
            </a:r>
            <a:endParaRPr lang="en-US" sz="1100" dirty="0"/>
          </a:p>
        </p:txBody>
      </p:sp>
      <p:sp>
        <p:nvSpPr>
          <p:cNvPr id="19" name="Shape 17"/>
          <p:cNvSpPr/>
          <p:nvPr/>
        </p:nvSpPr>
        <p:spPr>
          <a:xfrm>
            <a:off x="7406640" y="5175504"/>
            <a:ext cx="4206240" cy="1051560"/>
          </a:xfrm>
          <a:prstGeom prst="rect">
            <a:avLst/>
          </a:prstGeom>
          <a:solidFill>
            <a:srgbClr val="FFFFFF"/>
          </a:solidFill>
          <a:ln w="12700">
            <a:solidFill>
              <a:srgbClr val="E0E0E0"/>
            </a:solidFill>
            <a:prstDash val="solid"/>
          </a:ln>
        </p:spPr>
      </p:sp>
      <p:sp>
        <p:nvSpPr>
          <p:cNvPr id="20" name="Shape 18"/>
          <p:cNvSpPr/>
          <p:nvPr/>
        </p:nvSpPr>
        <p:spPr>
          <a:xfrm>
            <a:off x="7406640" y="5175504"/>
            <a:ext cx="4206240" cy="54864"/>
          </a:xfrm>
          <a:prstGeom prst="rect">
            <a:avLst/>
          </a:prstGeom>
          <a:solidFill>
            <a:srgbClr val="9E1B32"/>
          </a:solidFill>
          <a:ln/>
        </p:spPr>
      </p:sp>
      <p:sp>
        <p:nvSpPr>
          <p:cNvPr id="21" name="Text 19"/>
          <p:cNvSpPr/>
          <p:nvPr/>
        </p:nvSpPr>
        <p:spPr>
          <a:xfrm>
            <a:off x="7543800" y="5431536"/>
            <a:ext cx="3931920" cy="36576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6 wks</a:t>
            </a:r>
            <a:endParaRPr lang="en-US" sz="2600" dirty="0"/>
          </a:p>
        </p:txBody>
      </p:sp>
      <p:sp>
        <p:nvSpPr>
          <p:cNvPr id="22" name="Text 20"/>
          <p:cNvSpPr/>
          <p:nvPr/>
        </p:nvSpPr>
        <p:spPr>
          <a:xfrm>
            <a:off x="7543800" y="5788152"/>
            <a:ext cx="393192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Implementation timeline</a:t>
            </a:r>
            <a:endParaRPr lang="en-US" sz="1100" dirty="0"/>
          </a:p>
        </p:txBody>
      </p:sp>
      <p:sp>
        <p:nvSpPr>
          <p:cNvPr id="23" name="Text 21"/>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24" name="Text 22"/>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CLIENT BUSINESS OVERVIEW</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ABC Electronics today</a:t>
            </a:r>
            <a:endParaRPr lang="en-US" sz="2800" dirty="0"/>
          </a:p>
        </p:txBody>
      </p:sp>
      <p:sp>
        <p:nvSpPr>
          <p:cNvPr id="4" name="Text 2"/>
          <p:cNvSpPr/>
          <p:nvPr/>
        </p:nvSpPr>
        <p:spPr>
          <a:xfrm>
            <a:off x="548640" y="1600200"/>
            <a:ext cx="2743200" cy="457200"/>
          </a:xfrm>
          <a:prstGeom prst="rect">
            <a:avLst/>
          </a:prstGeom>
          <a:noFill/>
          <a:ln/>
        </p:spPr>
        <p:txBody>
          <a:bodyPr wrap="square" lIns="0" tIns="0" rIns="0" bIns="0" rtlCol="0" anchor="t"/>
          <a:lstStyle/>
          <a:p>
            <a:pPr indent="0" marL="0">
              <a:buNone/>
            </a:pPr>
            <a:r>
              <a:rPr lang="en-US" sz="1250" b="1" dirty="0">
                <a:solidFill>
                  <a:srgbClr val="9E1B32"/>
                </a:solidFill>
                <a:latin typeface="Calibri" pitchFamily="34" charset="0"/>
                <a:ea typeface="Calibri" pitchFamily="34" charset="-122"/>
                <a:cs typeface="Calibri" pitchFamily="34" charset="-120"/>
              </a:rPr>
              <a:t>Industry</a:t>
            </a:r>
            <a:endParaRPr lang="en-US" sz="1250" dirty="0"/>
          </a:p>
        </p:txBody>
      </p:sp>
      <p:sp>
        <p:nvSpPr>
          <p:cNvPr id="5" name="Text 3"/>
          <p:cNvSpPr/>
          <p:nvPr/>
        </p:nvSpPr>
        <p:spPr>
          <a:xfrm>
            <a:off x="3383280" y="1600200"/>
            <a:ext cx="4023360" cy="45720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Consumer electronics — online retail</a:t>
            </a:r>
            <a:endParaRPr lang="en-US" sz="1250" dirty="0"/>
          </a:p>
        </p:txBody>
      </p:sp>
      <p:sp>
        <p:nvSpPr>
          <p:cNvPr id="6" name="Shape 4"/>
          <p:cNvSpPr/>
          <p:nvPr/>
        </p:nvSpPr>
        <p:spPr>
          <a:xfrm>
            <a:off x="548640" y="2039112"/>
            <a:ext cx="6858000" cy="0"/>
          </a:xfrm>
          <a:prstGeom prst="line">
            <a:avLst/>
          </a:prstGeom>
          <a:noFill/>
          <a:ln w="9525">
            <a:solidFill>
              <a:srgbClr val="E0E0E0"/>
            </a:solidFill>
            <a:prstDash val="solid"/>
          </a:ln>
        </p:spPr>
      </p:sp>
      <p:sp>
        <p:nvSpPr>
          <p:cNvPr id="7" name="Text 5"/>
          <p:cNvSpPr/>
          <p:nvPr/>
        </p:nvSpPr>
        <p:spPr>
          <a:xfrm>
            <a:off x="548640" y="2148840"/>
            <a:ext cx="2743200" cy="457200"/>
          </a:xfrm>
          <a:prstGeom prst="rect">
            <a:avLst/>
          </a:prstGeom>
          <a:noFill/>
          <a:ln/>
        </p:spPr>
        <p:txBody>
          <a:bodyPr wrap="square" lIns="0" tIns="0" rIns="0" bIns="0" rtlCol="0" anchor="t"/>
          <a:lstStyle/>
          <a:p>
            <a:pPr indent="0" marL="0">
              <a:buNone/>
            </a:pPr>
            <a:r>
              <a:rPr lang="en-US" sz="1250" b="1" dirty="0">
                <a:solidFill>
                  <a:srgbClr val="9E1B32"/>
                </a:solidFill>
                <a:latin typeface="Calibri" pitchFamily="34" charset="0"/>
                <a:ea typeface="Calibri" pitchFamily="34" charset="-122"/>
                <a:cs typeface="Calibri" pitchFamily="34" charset="-120"/>
              </a:rPr>
              <a:t>Products / Services</a:t>
            </a:r>
            <a:endParaRPr lang="en-US" sz="1250" dirty="0"/>
          </a:p>
        </p:txBody>
      </p:sp>
      <p:sp>
        <p:nvSpPr>
          <p:cNvPr id="8" name="Text 6"/>
          <p:cNvSpPr/>
          <p:nvPr/>
        </p:nvSpPr>
        <p:spPr>
          <a:xfrm>
            <a:off x="3383280" y="2148840"/>
            <a:ext cx="4023360" cy="45720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Consumer electronics sold direct-to-consumer online</a:t>
            </a:r>
            <a:endParaRPr lang="en-US" sz="1250" dirty="0"/>
          </a:p>
        </p:txBody>
      </p:sp>
      <p:sp>
        <p:nvSpPr>
          <p:cNvPr id="9" name="Shape 7"/>
          <p:cNvSpPr/>
          <p:nvPr/>
        </p:nvSpPr>
        <p:spPr>
          <a:xfrm>
            <a:off x="548640" y="2587752"/>
            <a:ext cx="6858000" cy="0"/>
          </a:xfrm>
          <a:prstGeom prst="line">
            <a:avLst/>
          </a:prstGeom>
          <a:noFill/>
          <a:ln w="9525">
            <a:solidFill>
              <a:srgbClr val="E0E0E0"/>
            </a:solidFill>
            <a:prstDash val="solid"/>
          </a:ln>
        </p:spPr>
      </p:sp>
      <p:sp>
        <p:nvSpPr>
          <p:cNvPr id="10" name="Text 8"/>
          <p:cNvSpPr/>
          <p:nvPr/>
        </p:nvSpPr>
        <p:spPr>
          <a:xfrm>
            <a:off x="548640" y="2697480"/>
            <a:ext cx="2743200" cy="457200"/>
          </a:xfrm>
          <a:prstGeom prst="rect">
            <a:avLst/>
          </a:prstGeom>
          <a:noFill/>
          <a:ln/>
        </p:spPr>
        <p:txBody>
          <a:bodyPr wrap="square" lIns="0" tIns="0" rIns="0" bIns="0" rtlCol="0" anchor="t"/>
          <a:lstStyle/>
          <a:p>
            <a:pPr indent="0" marL="0">
              <a:buNone/>
            </a:pPr>
            <a:r>
              <a:rPr lang="en-US" sz="1250" b="1" dirty="0">
                <a:solidFill>
                  <a:srgbClr val="9E1B32"/>
                </a:solidFill>
                <a:latin typeface="Calibri" pitchFamily="34" charset="0"/>
                <a:ea typeface="Calibri" pitchFamily="34" charset="-122"/>
                <a:cs typeface="Calibri" pitchFamily="34" charset="-120"/>
              </a:rPr>
              <a:t>Support channels</a:t>
            </a:r>
            <a:endParaRPr lang="en-US" sz="1250" dirty="0"/>
          </a:p>
        </p:txBody>
      </p:sp>
      <p:sp>
        <p:nvSpPr>
          <p:cNvPr id="11" name="Text 9"/>
          <p:cNvSpPr/>
          <p:nvPr/>
        </p:nvSpPr>
        <p:spPr>
          <a:xfrm>
            <a:off x="3383280" y="2697480"/>
            <a:ext cx="4023360" cy="45720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WhatsApp, Email, Website</a:t>
            </a:r>
            <a:endParaRPr lang="en-US" sz="1250" dirty="0"/>
          </a:p>
        </p:txBody>
      </p:sp>
      <p:sp>
        <p:nvSpPr>
          <p:cNvPr id="12" name="Shape 10"/>
          <p:cNvSpPr/>
          <p:nvPr/>
        </p:nvSpPr>
        <p:spPr>
          <a:xfrm>
            <a:off x="548640" y="3136392"/>
            <a:ext cx="6858000" cy="0"/>
          </a:xfrm>
          <a:prstGeom prst="line">
            <a:avLst/>
          </a:prstGeom>
          <a:noFill/>
          <a:ln w="9525">
            <a:solidFill>
              <a:srgbClr val="E0E0E0"/>
            </a:solidFill>
            <a:prstDash val="solid"/>
          </a:ln>
        </p:spPr>
      </p:sp>
      <p:sp>
        <p:nvSpPr>
          <p:cNvPr id="13" name="Text 11"/>
          <p:cNvSpPr/>
          <p:nvPr/>
        </p:nvSpPr>
        <p:spPr>
          <a:xfrm>
            <a:off x="548640" y="3246120"/>
            <a:ext cx="2743200" cy="457200"/>
          </a:xfrm>
          <a:prstGeom prst="rect">
            <a:avLst/>
          </a:prstGeom>
          <a:noFill/>
          <a:ln/>
        </p:spPr>
        <p:txBody>
          <a:bodyPr wrap="square" lIns="0" tIns="0" rIns="0" bIns="0" rtlCol="0" anchor="t"/>
          <a:lstStyle/>
          <a:p>
            <a:pPr indent="0" marL="0">
              <a:buNone/>
            </a:pPr>
            <a:r>
              <a:rPr lang="en-US" sz="1250" b="1" dirty="0">
                <a:solidFill>
                  <a:srgbClr val="9E1B32"/>
                </a:solidFill>
                <a:latin typeface="Calibri" pitchFamily="34" charset="0"/>
                <a:ea typeface="Calibri" pitchFamily="34" charset="-122"/>
                <a:cs typeface="Calibri" pitchFamily="34" charset="-120"/>
              </a:rPr>
              <a:t>Daily ticket volume</a:t>
            </a:r>
            <a:endParaRPr lang="en-US" sz="1250" dirty="0"/>
          </a:p>
        </p:txBody>
      </p:sp>
      <p:sp>
        <p:nvSpPr>
          <p:cNvPr id="14" name="Text 12"/>
          <p:cNvSpPr/>
          <p:nvPr/>
        </p:nvSpPr>
        <p:spPr>
          <a:xfrm>
            <a:off x="3383280" y="3246120"/>
            <a:ext cx="4023360" cy="45720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~300 queries per day</a:t>
            </a:r>
            <a:endParaRPr lang="en-US" sz="1250" dirty="0"/>
          </a:p>
        </p:txBody>
      </p:sp>
      <p:sp>
        <p:nvSpPr>
          <p:cNvPr id="15" name="Shape 13"/>
          <p:cNvSpPr/>
          <p:nvPr/>
        </p:nvSpPr>
        <p:spPr>
          <a:xfrm>
            <a:off x="548640" y="3685032"/>
            <a:ext cx="6858000" cy="0"/>
          </a:xfrm>
          <a:prstGeom prst="line">
            <a:avLst/>
          </a:prstGeom>
          <a:noFill/>
          <a:ln w="9525">
            <a:solidFill>
              <a:srgbClr val="E0E0E0"/>
            </a:solidFill>
            <a:prstDash val="solid"/>
          </a:ln>
        </p:spPr>
      </p:sp>
      <p:sp>
        <p:nvSpPr>
          <p:cNvPr id="16" name="Text 14"/>
          <p:cNvSpPr/>
          <p:nvPr/>
        </p:nvSpPr>
        <p:spPr>
          <a:xfrm>
            <a:off x="548640" y="3794760"/>
            <a:ext cx="2743200" cy="457200"/>
          </a:xfrm>
          <a:prstGeom prst="rect">
            <a:avLst/>
          </a:prstGeom>
          <a:noFill/>
          <a:ln/>
        </p:spPr>
        <p:txBody>
          <a:bodyPr wrap="square" lIns="0" tIns="0" rIns="0" bIns="0" rtlCol="0" anchor="t"/>
          <a:lstStyle/>
          <a:p>
            <a:pPr indent="0" marL="0">
              <a:buNone/>
            </a:pPr>
            <a:r>
              <a:rPr lang="en-US" sz="1250" b="1" dirty="0">
                <a:solidFill>
                  <a:srgbClr val="9E1B32"/>
                </a:solidFill>
                <a:latin typeface="Calibri" pitchFamily="34" charset="0"/>
                <a:ea typeface="Calibri" pitchFamily="34" charset="-122"/>
                <a:cs typeface="Calibri" pitchFamily="34" charset="-120"/>
              </a:rPr>
              <a:t>Support agents</a:t>
            </a:r>
            <a:endParaRPr lang="en-US" sz="1250" dirty="0"/>
          </a:p>
        </p:txBody>
      </p:sp>
      <p:sp>
        <p:nvSpPr>
          <p:cNvPr id="17" name="Text 15"/>
          <p:cNvSpPr/>
          <p:nvPr/>
        </p:nvSpPr>
        <p:spPr>
          <a:xfrm>
            <a:off x="3383280" y="3794760"/>
            <a:ext cx="4023360" cy="45720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8 full-time agents</a:t>
            </a:r>
            <a:endParaRPr lang="en-US" sz="1250" dirty="0"/>
          </a:p>
        </p:txBody>
      </p:sp>
      <p:sp>
        <p:nvSpPr>
          <p:cNvPr id="18" name="Shape 16"/>
          <p:cNvSpPr/>
          <p:nvPr/>
        </p:nvSpPr>
        <p:spPr>
          <a:xfrm>
            <a:off x="548640" y="4233672"/>
            <a:ext cx="6858000" cy="0"/>
          </a:xfrm>
          <a:prstGeom prst="line">
            <a:avLst/>
          </a:prstGeom>
          <a:noFill/>
          <a:ln w="9525">
            <a:solidFill>
              <a:srgbClr val="E0E0E0"/>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863840" y="1737360"/>
          <a:ext cx="3749040" cy="914400"/>
        </p:xfrm>
        <a:graphic>
          <a:graphicData uri="http://schemas.openxmlformats.org/drawingml/2006/table">
            <a:tbl>
              <a:tblPr/>
              <a:tblGrid>
                <a:gridCol w="1920240"/>
                <a:gridCol w="182880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Daily Tickets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Support Agents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Channels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WhatsApp, Email, Web</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20" name="Text 17"/>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21" name="Text 18"/>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CURRENT CHALLENGES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Four gaps limiting the support team today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120640"/>
                <a:gridCol w="5943600"/>
              </a:tblGrid>
              <a:tr h="6858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Challenge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Business Impact</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r>
              <a:tr h="6858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Slow response times (4–6 hours)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Poor customer experience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858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Repetitive, high-volume FAQ queries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High agent workload, low efficiency</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6858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No support after business hours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Missed opportunities, delayed resolution</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858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No cross-channel tracking / analytics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Poor visibility into support performance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bl>
          </a:graphicData>
        </a:graphic>
      </p:graphicFrame>
      <p:sp>
        <p:nvSpPr>
          <p:cNvPr id="5" name="Text 2"/>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PROPOSED AI SOLUTION</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Six modules covering the full support lifecycle</a:t>
            </a:r>
            <a:endParaRPr lang="en-US" sz="2800" dirty="0"/>
          </a:p>
        </p:txBody>
      </p:sp>
      <p:sp>
        <p:nvSpPr>
          <p:cNvPr id="4" name="Shape 2"/>
          <p:cNvSpPr/>
          <p:nvPr/>
        </p:nvSpPr>
        <p:spPr>
          <a:xfrm>
            <a:off x="548640" y="1691640"/>
            <a:ext cx="3566160" cy="1417320"/>
          </a:xfrm>
          <a:prstGeom prst="rect">
            <a:avLst/>
          </a:prstGeom>
          <a:solidFill>
            <a:srgbClr val="FFFFFF"/>
          </a:solidFill>
          <a:ln w="12700">
            <a:solidFill>
              <a:srgbClr val="E0E0E0"/>
            </a:solidFill>
            <a:prstDash val="solid"/>
          </a:ln>
        </p:spPr>
      </p:sp>
      <p:sp>
        <p:nvSpPr>
          <p:cNvPr id="5" name="Shape 3"/>
          <p:cNvSpPr/>
          <p:nvPr/>
        </p:nvSpPr>
        <p:spPr>
          <a:xfrm>
            <a:off x="548640" y="1691640"/>
            <a:ext cx="54864" cy="1417320"/>
          </a:xfrm>
          <a:prstGeom prst="rect">
            <a:avLst/>
          </a:prstGeom>
          <a:solidFill>
            <a:srgbClr val="9E1B32"/>
          </a:solidFill>
          <a:ln/>
        </p:spPr>
      </p:sp>
      <p:sp>
        <p:nvSpPr>
          <p:cNvPr id="6" name="Text 4"/>
          <p:cNvSpPr/>
          <p:nvPr/>
        </p:nvSpPr>
        <p:spPr>
          <a:xfrm>
            <a:off x="731520" y="180136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731520" y="211226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AI FAQ Agent</a:t>
            </a:r>
            <a:endParaRPr lang="en-US" sz="1300" dirty="0"/>
          </a:p>
        </p:txBody>
      </p:sp>
      <p:sp>
        <p:nvSpPr>
          <p:cNvPr id="8" name="Text 6"/>
          <p:cNvSpPr/>
          <p:nvPr/>
        </p:nvSpPr>
        <p:spPr>
          <a:xfrm>
            <a:off x="731520" y="247802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Automatically resolves routine, repetitive customer questions across channels.</a:t>
            </a:r>
            <a:endParaRPr lang="en-US" sz="1050" dirty="0"/>
          </a:p>
        </p:txBody>
      </p:sp>
      <p:sp>
        <p:nvSpPr>
          <p:cNvPr id="9" name="Shape 7"/>
          <p:cNvSpPr/>
          <p:nvPr/>
        </p:nvSpPr>
        <p:spPr>
          <a:xfrm>
            <a:off x="4343400" y="1691640"/>
            <a:ext cx="3566160" cy="1417320"/>
          </a:xfrm>
          <a:prstGeom prst="rect">
            <a:avLst/>
          </a:prstGeom>
          <a:solidFill>
            <a:srgbClr val="FFFFFF"/>
          </a:solidFill>
          <a:ln w="12700">
            <a:solidFill>
              <a:srgbClr val="E0E0E0"/>
            </a:solidFill>
            <a:prstDash val="solid"/>
          </a:ln>
        </p:spPr>
      </p:sp>
      <p:sp>
        <p:nvSpPr>
          <p:cNvPr id="10" name="Shape 8"/>
          <p:cNvSpPr/>
          <p:nvPr/>
        </p:nvSpPr>
        <p:spPr>
          <a:xfrm>
            <a:off x="4343400" y="1691640"/>
            <a:ext cx="54864" cy="1417320"/>
          </a:xfrm>
          <a:prstGeom prst="rect">
            <a:avLst/>
          </a:prstGeom>
          <a:solidFill>
            <a:srgbClr val="9E1B32"/>
          </a:solidFill>
          <a:ln/>
        </p:spPr>
      </p:sp>
      <p:sp>
        <p:nvSpPr>
          <p:cNvPr id="11" name="Text 9"/>
          <p:cNvSpPr/>
          <p:nvPr/>
        </p:nvSpPr>
        <p:spPr>
          <a:xfrm>
            <a:off x="4526280" y="180136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02</a:t>
            </a:r>
            <a:endParaRPr lang="en-US" sz="1600" dirty="0"/>
          </a:p>
        </p:txBody>
      </p:sp>
      <p:sp>
        <p:nvSpPr>
          <p:cNvPr id="12" name="Text 10"/>
          <p:cNvSpPr/>
          <p:nvPr/>
        </p:nvSpPr>
        <p:spPr>
          <a:xfrm>
            <a:off x="4526280" y="211226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Order Tracking Assistant</a:t>
            </a:r>
            <a:endParaRPr lang="en-US" sz="1300" dirty="0"/>
          </a:p>
        </p:txBody>
      </p:sp>
      <p:sp>
        <p:nvSpPr>
          <p:cNvPr id="13" name="Text 11"/>
          <p:cNvSpPr/>
          <p:nvPr/>
        </p:nvSpPr>
        <p:spPr>
          <a:xfrm>
            <a:off x="4526280" y="247802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Instant, self-serve order status updates for customers.</a:t>
            </a:r>
            <a:endParaRPr lang="en-US" sz="1050" dirty="0"/>
          </a:p>
        </p:txBody>
      </p:sp>
      <p:sp>
        <p:nvSpPr>
          <p:cNvPr id="14" name="Shape 12"/>
          <p:cNvSpPr/>
          <p:nvPr/>
        </p:nvSpPr>
        <p:spPr>
          <a:xfrm>
            <a:off x="8138160" y="1691640"/>
            <a:ext cx="3566160" cy="1417320"/>
          </a:xfrm>
          <a:prstGeom prst="rect">
            <a:avLst/>
          </a:prstGeom>
          <a:solidFill>
            <a:srgbClr val="FFFFFF"/>
          </a:solidFill>
          <a:ln w="12700">
            <a:solidFill>
              <a:srgbClr val="E0E0E0"/>
            </a:solidFill>
            <a:prstDash val="solid"/>
          </a:ln>
        </p:spPr>
      </p:sp>
      <p:sp>
        <p:nvSpPr>
          <p:cNvPr id="15" name="Shape 13"/>
          <p:cNvSpPr/>
          <p:nvPr/>
        </p:nvSpPr>
        <p:spPr>
          <a:xfrm>
            <a:off x="8138160" y="1691640"/>
            <a:ext cx="54864" cy="1417320"/>
          </a:xfrm>
          <a:prstGeom prst="rect">
            <a:avLst/>
          </a:prstGeom>
          <a:solidFill>
            <a:srgbClr val="9E1B32"/>
          </a:solidFill>
          <a:ln/>
        </p:spPr>
      </p:sp>
      <p:sp>
        <p:nvSpPr>
          <p:cNvPr id="16" name="Text 14"/>
          <p:cNvSpPr/>
          <p:nvPr/>
        </p:nvSpPr>
        <p:spPr>
          <a:xfrm>
            <a:off x="8321040" y="180136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03</a:t>
            </a:r>
            <a:endParaRPr lang="en-US" sz="1600" dirty="0"/>
          </a:p>
        </p:txBody>
      </p:sp>
      <p:sp>
        <p:nvSpPr>
          <p:cNvPr id="17" name="Text 15"/>
          <p:cNvSpPr/>
          <p:nvPr/>
        </p:nvSpPr>
        <p:spPr>
          <a:xfrm>
            <a:off x="8321040" y="211226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Returns &amp; Refund Assistant</a:t>
            </a:r>
            <a:endParaRPr lang="en-US" sz="1300" dirty="0"/>
          </a:p>
        </p:txBody>
      </p:sp>
      <p:sp>
        <p:nvSpPr>
          <p:cNvPr id="18" name="Text 16"/>
          <p:cNvSpPr/>
          <p:nvPr/>
        </p:nvSpPr>
        <p:spPr>
          <a:xfrm>
            <a:off x="8321040" y="247802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Guides customers through returns/refunds without agent involvement.</a:t>
            </a:r>
            <a:endParaRPr lang="en-US" sz="1050" dirty="0"/>
          </a:p>
        </p:txBody>
      </p:sp>
      <p:sp>
        <p:nvSpPr>
          <p:cNvPr id="19" name="Shape 17"/>
          <p:cNvSpPr/>
          <p:nvPr/>
        </p:nvSpPr>
        <p:spPr>
          <a:xfrm>
            <a:off x="548640" y="3337560"/>
            <a:ext cx="3566160" cy="1417320"/>
          </a:xfrm>
          <a:prstGeom prst="rect">
            <a:avLst/>
          </a:prstGeom>
          <a:solidFill>
            <a:srgbClr val="FFFFFF"/>
          </a:solidFill>
          <a:ln w="12700">
            <a:solidFill>
              <a:srgbClr val="E0E0E0"/>
            </a:solidFill>
            <a:prstDash val="solid"/>
          </a:ln>
        </p:spPr>
      </p:sp>
      <p:sp>
        <p:nvSpPr>
          <p:cNvPr id="20" name="Shape 18"/>
          <p:cNvSpPr/>
          <p:nvPr/>
        </p:nvSpPr>
        <p:spPr>
          <a:xfrm>
            <a:off x="548640" y="3337560"/>
            <a:ext cx="54864" cy="1417320"/>
          </a:xfrm>
          <a:prstGeom prst="rect">
            <a:avLst/>
          </a:prstGeom>
          <a:solidFill>
            <a:srgbClr val="9E1B32"/>
          </a:solidFill>
          <a:ln/>
        </p:spPr>
      </p:sp>
      <p:sp>
        <p:nvSpPr>
          <p:cNvPr id="21" name="Text 19"/>
          <p:cNvSpPr/>
          <p:nvPr/>
        </p:nvSpPr>
        <p:spPr>
          <a:xfrm>
            <a:off x="731520" y="344728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04</a:t>
            </a:r>
            <a:endParaRPr lang="en-US" sz="1600" dirty="0"/>
          </a:p>
        </p:txBody>
      </p:sp>
      <p:sp>
        <p:nvSpPr>
          <p:cNvPr id="22" name="Text 20"/>
          <p:cNvSpPr/>
          <p:nvPr/>
        </p:nvSpPr>
        <p:spPr>
          <a:xfrm>
            <a:off x="731520" y="375818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Human Escalation Workflow</a:t>
            </a:r>
            <a:endParaRPr lang="en-US" sz="1300" dirty="0"/>
          </a:p>
        </p:txBody>
      </p:sp>
      <p:sp>
        <p:nvSpPr>
          <p:cNvPr id="23" name="Text 21"/>
          <p:cNvSpPr/>
          <p:nvPr/>
        </p:nvSpPr>
        <p:spPr>
          <a:xfrm>
            <a:off x="731520" y="412394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Automatically routes complex or sensitive cases to a human agent.</a:t>
            </a:r>
            <a:endParaRPr lang="en-US" sz="1050" dirty="0"/>
          </a:p>
        </p:txBody>
      </p:sp>
      <p:sp>
        <p:nvSpPr>
          <p:cNvPr id="24" name="Shape 22"/>
          <p:cNvSpPr/>
          <p:nvPr/>
        </p:nvSpPr>
        <p:spPr>
          <a:xfrm>
            <a:off x="4343400" y="3337560"/>
            <a:ext cx="3566160" cy="1417320"/>
          </a:xfrm>
          <a:prstGeom prst="rect">
            <a:avLst/>
          </a:prstGeom>
          <a:solidFill>
            <a:srgbClr val="FFFFFF"/>
          </a:solidFill>
          <a:ln w="12700">
            <a:solidFill>
              <a:srgbClr val="E0E0E0"/>
            </a:solidFill>
            <a:prstDash val="solid"/>
          </a:ln>
        </p:spPr>
      </p:sp>
      <p:sp>
        <p:nvSpPr>
          <p:cNvPr id="25" name="Shape 23"/>
          <p:cNvSpPr/>
          <p:nvPr/>
        </p:nvSpPr>
        <p:spPr>
          <a:xfrm>
            <a:off x="4343400" y="3337560"/>
            <a:ext cx="54864" cy="1417320"/>
          </a:xfrm>
          <a:prstGeom prst="rect">
            <a:avLst/>
          </a:prstGeom>
          <a:solidFill>
            <a:srgbClr val="9E1B32"/>
          </a:solidFill>
          <a:ln/>
        </p:spPr>
      </p:sp>
      <p:sp>
        <p:nvSpPr>
          <p:cNvPr id="26" name="Text 24"/>
          <p:cNvSpPr/>
          <p:nvPr/>
        </p:nvSpPr>
        <p:spPr>
          <a:xfrm>
            <a:off x="4526280" y="344728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05</a:t>
            </a:r>
            <a:endParaRPr lang="en-US" sz="1600" dirty="0"/>
          </a:p>
        </p:txBody>
      </p:sp>
      <p:sp>
        <p:nvSpPr>
          <p:cNvPr id="27" name="Text 25"/>
          <p:cNvSpPr/>
          <p:nvPr/>
        </p:nvSpPr>
        <p:spPr>
          <a:xfrm>
            <a:off x="4526280" y="375818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Website &amp; WhatsApp AI Assistant</a:t>
            </a:r>
            <a:endParaRPr lang="en-US" sz="1300" dirty="0"/>
          </a:p>
        </p:txBody>
      </p:sp>
      <p:sp>
        <p:nvSpPr>
          <p:cNvPr id="28" name="Text 26"/>
          <p:cNvSpPr/>
          <p:nvPr/>
        </p:nvSpPr>
        <p:spPr>
          <a:xfrm>
            <a:off x="4526280" y="412394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Brings AI support to the client's two highest-volume channels.</a:t>
            </a:r>
            <a:endParaRPr lang="en-US" sz="1050" dirty="0"/>
          </a:p>
        </p:txBody>
      </p:sp>
      <p:sp>
        <p:nvSpPr>
          <p:cNvPr id="29" name="Shape 27"/>
          <p:cNvSpPr/>
          <p:nvPr/>
        </p:nvSpPr>
        <p:spPr>
          <a:xfrm>
            <a:off x="8138160" y="3337560"/>
            <a:ext cx="3566160" cy="1417320"/>
          </a:xfrm>
          <a:prstGeom prst="rect">
            <a:avLst/>
          </a:prstGeom>
          <a:solidFill>
            <a:srgbClr val="FFFFFF"/>
          </a:solidFill>
          <a:ln w="12700">
            <a:solidFill>
              <a:srgbClr val="E0E0E0"/>
            </a:solidFill>
            <a:prstDash val="solid"/>
          </a:ln>
        </p:spPr>
      </p:sp>
      <p:sp>
        <p:nvSpPr>
          <p:cNvPr id="30" name="Shape 28"/>
          <p:cNvSpPr/>
          <p:nvPr/>
        </p:nvSpPr>
        <p:spPr>
          <a:xfrm>
            <a:off x="8138160" y="3337560"/>
            <a:ext cx="54864" cy="1417320"/>
          </a:xfrm>
          <a:prstGeom prst="rect">
            <a:avLst/>
          </a:prstGeom>
          <a:solidFill>
            <a:srgbClr val="9E1B32"/>
          </a:solidFill>
          <a:ln/>
        </p:spPr>
      </p:sp>
      <p:sp>
        <p:nvSpPr>
          <p:cNvPr id="31" name="Text 29"/>
          <p:cNvSpPr/>
          <p:nvPr/>
        </p:nvSpPr>
        <p:spPr>
          <a:xfrm>
            <a:off x="8321040" y="3447288"/>
            <a:ext cx="914400" cy="320040"/>
          </a:xfrm>
          <a:prstGeom prst="rect">
            <a:avLst/>
          </a:prstGeom>
          <a:noFill/>
          <a:ln/>
        </p:spPr>
        <p:txBody>
          <a:bodyPr wrap="square" lIns="0" tIns="0" rIns="0" bIns="0" rtlCol="0" anchor="ctr"/>
          <a:lstStyle/>
          <a:p>
            <a:pPr indent="0" marL="0">
              <a:buNone/>
            </a:pPr>
            <a:r>
              <a:rPr lang="en-US" sz="1600" b="1" dirty="0">
                <a:solidFill>
                  <a:srgbClr val="9E1B32"/>
                </a:solidFill>
                <a:latin typeface="Cambria" pitchFamily="34" charset="0"/>
                <a:ea typeface="Cambria" pitchFamily="34" charset="-122"/>
                <a:cs typeface="Cambria" pitchFamily="34" charset="-120"/>
              </a:rPr>
              <a:t>06</a:t>
            </a:r>
            <a:endParaRPr lang="en-US" sz="1600" dirty="0"/>
          </a:p>
        </p:txBody>
      </p:sp>
      <p:sp>
        <p:nvSpPr>
          <p:cNvPr id="32" name="Text 30"/>
          <p:cNvSpPr/>
          <p:nvPr/>
        </p:nvSpPr>
        <p:spPr>
          <a:xfrm>
            <a:off x="8321040" y="375818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Daily Analytics Dashboard</a:t>
            </a:r>
            <a:endParaRPr lang="en-US" sz="1300" dirty="0"/>
          </a:p>
        </p:txBody>
      </p:sp>
      <p:sp>
        <p:nvSpPr>
          <p:cNvPr id="33" name="Text 31"/>
          <p:cNvSpPr/>
          <p:nvPr/>
        </p:nvSpPr>
        <p:spPr>
          <a:xfrm>
            <a:off x="8321040" y="4123944"/>
            <a:ext cx="3200400" cy="54864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Real-time visibility into volume, response time, and automation rate.</a:t>
            </a:r>
            <a:endParaRPr lang="en-US" sz="1050" dirty="0"/>
          </a:p>
        </p:txBody>
      </p:sp>
      <p:sp>
        <p:nvSpPr>
          <p:cNvPr id="34" name="Text 32"/>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35" name="Text 33"/>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SOLUTION ARCHITECTURE</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One conversation thread, any channel, escalated only when needed</a:t>
            </a:r>
            <a:endParaRPr lang="en-US" sz="2800" dirty="0"/>
          </a:p>
        </p:txBody>
      </p:sp>
      <p:sp>
        <p:nvSpPr>
          <p:cNvPr id="4" name="Shape 2"/>
          <p:cNvSpPr/>
          <p:nvPr/>
        </p:nvSpPr>
        <p:spPr>
          <a:xfrm>
            <a:off x="548640" y="2377440"/>
            <a:ext cx="1965960" cy="1188720"/>
          </a:xfrm>
          <a:prstGeom prst="rect">
            <a:avLst/>
          </a:prstGeom>
          <a:solidFill>
            <a:srgbClr val="FFFFFF"/>
          </a:solidFill>
          <a:ln w="12700">
            <a:solidFill>
              <a:srgbClr val="E0E0E0"/>
            </a:solidFill>
            <a:prstDash val="solid"/>
          </a:ln>
        </p:spPr>
      </p:sp>
      <p:sp>
        <p:nvSpPr>
          <p:cNvPr id="5" name="Text 3"/>
          <p:cNvSpPr/>
          <p:nvPr/>
        </p:nvSpPr>
        <p:spPr>
          <a:xfrm>
            <a:off x="548640" y="2377440"/>
            <a:ext cx="1965960" cy="1188720"/>
          </a:xfrm>
          <a:prstGeom prst="rect">
            <a:avLst/>
          </a:prstGeom>
          <a:noFill/>
          <a:ln/>
        </p:spPr>
        <p:txBody>
          <a:bodyPr wrap="square" lIns="50800" tIns="50800" rIns="50800" bIns="5080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Customer</a:t>
            </a:r>
            <a:endParaRPr lang="en-US" sz="1200" dirty="0"/>
          </a:p>
        </p:txBody>
      </p:sp>
      <p:sp>
        <p:nvSpPr>
          <p:cNvPr id="6" name="Shape 4"/>
          <p:cNvSpPr/>
          <p:nvPr/>
        </p:nvSpPr>
        <p:spPr>
          <a:xfrm>
            <a:off x="2560892" y="2889504"/>
            <a:ext cx="216027" cy="164592"/>
          </a:xfrm>
          <a:prstGeom prst="rightArrow">
            <a:avLst/>
          </a:prstGeom>
          <a:solidFill>
            <a:srgbClr val="6B6B6B"/>
          </a:solidFill>
          <a:ln/>
        </p:spPr>
      </p:sp>
      <p:sp>
        <p:nvSpPr>
          <p:cNvPr id="7" name="Shape 5"/>
          <p:cNvSpPr/>
          <p:nvPr/>
        </p:nvSpPr>
        <p:spPr>
          <a:xfrm>
            <a:off x="2823210" y="2377440"/>
            <a:ext cx="1965960" cy="1188720"/>
          </a:xfrm>
          <a:prstGeom prst="rect">
            <a:avLst/>
          </a:prstGeom>
          <a:solidFill>
            <a:srgbClr val="FFFFFF"/>
          </a:solidFill>
          <a:ln w="12700">
            <a:solidFill>
              <a:srgbClr val="E0E0E0"/>
            </a:solidFill>
            <a:prstDash val="solid"/>
          </a:ln>
        </p:spPr>
      </p:sp>
      <p:sp>
        <p:nvSpPr>
          <p:cNvPr id="8" name="Text 6"/>
          <p:cNvSpPr/>
          <p:nvPr/>
        </p:nvSpPr>
        <p:spPr>
          <a:xfrm>
            <a:off x="2823210" y="2377440"/>
            <a:ext cx="1965960" cy="1188720"/>
          </a:xfrm>
          <a:prstGeom prst="rect">
            <a:avLst/>
          </a:prstGeom>
          <a:noFill/>
          <a:ln/>
        </p:spPr>
        <p:txBody>
          <a:bodyPr wrap="square" lIns="50800" tIns="50800" rIns="50800" bIns="5080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Website /</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WhatsApp / Email</a:t>
            </a:r>
            <a:endParaRPr lang="en-US" sz="1200" dirty="0"/>
          </a:p>
        </p:txBody>
      </p:sp>
      <p:sp>
        <p:nvSpPr>
          <p:cNvPr id="9" name="Shape 7"/>
          <p:cNvSpPr/>
          <p:nvPr/>
        </p:nvSpPr>
        <p:spPr>
          <a:xfrm>
            <a:off x="4835462" y="2889504"/>
            <a:ext cx="216027" cy="164592"/>
          </a:xfrm>
          <a:prstGeom prst="rightArrow">
            <a:avLst/>
          </a:prstGeom>
          <a:solidFill>
            <a:srgbClr val="6B6B6B"/>
          </a:solidFill>
          <a:ln/>
        </p:spPr>
      </p:sp>
      <p:sp>
        <p:nvSpPr>
          <p:cNvPr id="10" name="Shape 8"/>
          <p:cNvSpPr/>
          <p:nvPr/>
        </p:nvSpPr>
        <p:spPr>
          <a:xfrm>
            <a:off x="5097780" y="2377440"/>
            <a:ext cx="1965960" cy="1188720"/>
          </a:xfrm>
          <a:prstGeom prst="rect">
            <a:avLst/>
          </a:prstGeom>
          <a:solidFill>
            <a:srgbClr val="9E1B32"/>
          </a:solidFill>
          <a:ln w="12700">
            <a:solidFill>
              <a:srgbClr val="9E1B32"/>
            </a:solidFill>
            <a:prstDash val="solid"/>
          </a:ln>
        </p:spPr>
      </p:sp>
      <p:sp>
        <p:nvSpPr>
          <p:cNvPr id="11" name="Text 9"/>
          <p:cNvSpPr/>
          <p:nvPr/>
        </p:nvSpPr>
        <p:spPr>
          <a:xfrm>
            <a:off x="5097780" y="2377440"/>
            <a:ext cx="196596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Agent</a:t>
            </a:r>
            <a:endParaRPr lang="en-US" sz="1200" dirty="0"/>
          </a:p>
        </p:txBody>
      </p:sp>
      <p:sp>
        <p:nvSpPr>
          <p:cNvPr id="12" name="Shape 10"/>
          <p:cNvSpPr/>
          <p:nvPr/>
        </p:nvSpPr>
        <p:spPr>
          <a:xfrm>
            <a:off x="7110032" y="2889504"/>
            <a:ext cx="216027" cy="164592"/>
          </a:xfrm>
          <a:prstGeom prst="rightArrow">
            <a:avLst/>
          </a:prstGeom>
          <a:solidFill>
            <a:srgbClr val="6B6B6B"/>
          </a:solidFill>
          <a:ln/>
        </p:spPr>
      </p:sp>
      <p:sp>
        <p:nvSpPr>
          <p:cNvPr id="13" name="Shape 11"/>
          <p:cNvSpPr/>
          <p:nvPr/>
        </p:nvSpPr>
        <p:spPr>
          <a:xfrm>
            <a:off x="7372350" y="2377440"/>
            <a:ext cx="1965960" cy="1188720"/>
          </a:xfrm>
          <a:prstGeom prst="rect">
            <a:avLst/>
          </a:prstGeom>
          <a:solidFill>
            <a:srgbClr val="FFFFFF"/>
          </a:solidFill>
          <a:ln w="12700">
            <a:solidFill>
              <a:srgbClr val="E0E0E0"/>
            </a:solidFill>
            <a:prstDash val="solid"/>
          </a:ln>
        </p:spPr>
      </p:sp>
      <p:sp>
        <p:nvSpPr>
          <p:cNvPr id="14" name="Text 12"/>
          <p:cNvSpPr/>
          <p:nvPr/>
        </p:nvSpPr>
        <p:spPr>
          <a:xfrm>
            <a:off x="7372350" y="2377440"/>
            <a:ext cx="1965960" cy="1188720"/>
          </a:xfrm>
          <a:prstGeom prst="rect">
            <a:avLst/>
          </a:prstGeom>
          <a:noFill/>
          <a:ln/>
        </p:spPr>
        <p:txBody>
          <a:bodyPr wrap="square" lIns="50800" tIns="50800" rIns="50800" bIns="5080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Knowledge</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Base +</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Business Systems</a:t>
            </a:r>
            <a:endParaRPr lang="en-US" sz="1200" dirty="0"/>
          </a:p>
        </p:txBody>
      </p:sp>
      <p:sp>
        <p:nvSpPr>
          <p:cNvPr id="15" name="Shape 13"/>
          <p:cNvSpPr/>
          <p:nvPr/>
        </p:nvSpPr>
        <p:spPr>
          <a:xfrm>
            <a:off x="9384602" y="2889504"/>
            <a:ext cx="216027" cy="164592"/>
          </a:xfrm>
          <a:prstGeom prst="rightArrow">
            <a:avLst/>
          </a:prstGeom>
          <a:solidFill>
            <a:srgbClr val="6B6B6B"/>
          </a:solidFill>
          <a:ln/>
        </p:spPr>
      </p:sp>
      <p:sp>
        <p:nvSpPr>
          <p:cNvPr id="16" name="Shape 14"/>
          <p:cNvSpPr/>
          <p:nvPr/>
        </p:nvSpPr>
        <p:spPr>
          <a:xfrm>
            <a:off x="9646920" y="2377440"/>
            <a:ext cx="1965960" cy="1188720"/>
          </a:xfrm>
          <a:prstGeom prst="rect">
            <a:avLst/>
          </a:prstGeom>
          <a:solidFill>
            <a:srgbClr val="FFFFFF"/>
          </a:solidFill>
          <a:ln w="12700">
            <a:solidFill>
              <a:srgbClr val="E0E0E0"/>
            </a:solidFill>
            <a:prstDash val="solid"/>
          </a:ln>
        </p:spPr>
      </p:sp>
      <p:sp>
        <p:nvSpPr>
          <p:cNvPr id="17" name="Text 15"/>
          <p:cNvSpPr/>
          <p:nvPr/>
        </p:nvSpPr>
        <p:spPr>
          <a:xfrm>
            <a:off x="9646920" y="2377440"/>
            <a:ext cx="1965960" cy="1188720"/>
          </a:xfrm>
          <a:prstGeom prst="rect">
            <a:avLst/>
          </a:prstGeom>
          <a:noFill/>
          <a:ln/>
        </p:spPr>
        <p:txBody>
          <a:bodyPr wrap="square" lIns="50800" tIns="50800" rIns="50800" bIns="5080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Human Agent</a:t>
            </a:r>
            <a:endParaRPr lang="en-US" sz="1200" dirty="0"/>
          </a:p>
          <a:p>
            <a:pPr algn="ctr" indent="0" marL="0">
              <a:buNone/>
            </a:pPr>
            <a:r>
              <a:rPr lang="en-US" sz="1200" b="1" dirty="0">
                <a:solidFill>
                  <a:srgbClr val="1A1A1A"/>
                </a:solidFill>
                <a:latin typeface="Calibri" pitchFamily="34" charset="0"/>
                <a:ea typeface="Calibri" pitchFamily="34" charset="-122"/>
                <a:cs typeface="Calibri" pitchFamily="34" charset="-120"/>
              </a:rPr>
              <a:t>(if escalated)</a:t>
            </a:r>
            <a:endParaRPr lang="en-US" sz="1200" dirty="0"/>
          </a:p>
        </p:txBody>
      </p:sp>
      <p:sp>
        <p:nvSpPr>
          <p:cNvPr id="18" name="Text 16"/>
          <p:cNvSpPr/>
          <p:nvPr/>
        </p:nvSpPr>
        <p:spPr>
          <a:xfrm>
            <a:off x="548640" y="4114800"/>
            <a:ext cx="11064240" cy="1463040"/>
          </a:xfrm>
          <a:prstGeom prst="rect">
            <a:avLst/>
          </a:prstGeom>
          <a:noFill/>
          <a:ln/>
        </p:spPr>
        <p:txBody>
          <a:bodyPr wrap="square" lIns="0" tIns="0" rIns="0" bIns="0" rtlCol="0" anchor="t"/>
          <a:lstStyle/>
          <a:p>
            <a:pPr indent="0" marL="0">
              <a:lnSpc>
                <a:spcPct val="130000"/>
              </a:lnSpc>
              <a:buNone/>
            </a:pPr>
            <a:r>
              <a:rPr lang="en-US" sz="1350" dirty="0">
                <a:solidFill>
                  <a:srgbClr val="1A1A1A"/>
                </a:solidFill>
                <a:latin typeface="Calibri" pitchFamily="34" charset="0"/>
                <a:ea typeface="Calibri" pitchFamily="34" charset="-122"/>
                <a:cs typeface="Calibri" pitchFamily="34" charset="-120"/>
              </a:rPr>
              <a:t>The AI Agent sits in front of all three existing channels, queries a central knowledge base for FAQ/order/returns content, integrates with backend business systems for real-time order and returns data, and escalates only complex cases to the human team — preserving a single, trackable conversation thread per customer regardless of channel.</a:t>
            </a:r>
            <a:endParaRPr lang="en-US" sz="1350" dirty="0"/>
          </a:p>
        </p:txBody>
      </p:sp>
      <p:sp>
        <p:nvSpPr>
          <p:cNvPr id="19" name="Text 17"/>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20" name="Text 18"/>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SCOPE &amp; DELIVERABLES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What's included in this engagement</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291840"/>
                <a:gridCol w="7772400"/>
              </a:tblGrid>
              <a:tr h="6400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r>
              <a:tr h="64008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Knowledge Base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FAQ content, structured for AI retrieval</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4008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AI Agent</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Customer support bot (FAQ, order tracking, returns)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64008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Integrations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Website, WhatsApp, Email</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4008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Dashboard</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KPIs &amp; reports (volume, response time, automation rate)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64008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User enablement for support staff and managers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IMPLEMENTATION ROADMAP</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Six weeks from discovery to go-live</a:t>
            </a:r>
            <a:endParaRPr lang="en-US" sz="2800" dirty="0"/>
          </a:p>
        </p:txBody>
      </p:sp>
      <p:sp>
        <p:nvSpPr>
          <p:cNvPr id="4" name="Shape 2"/>
          <p:cNvSpPr/>
          <p:nvPr/>
        </p:nvSpPr>
        <p:spPr>
          <a:xfrm>
            <a:off x="548640" y="2194560"/>
            <a:ext cx="1965960" cy="1463040"/>
          </a:xfrm>
          <a:prstGeom prst="rect">
            <a:avLst/>
          </a:prstGeom>
          <a:solidFill>
            <a:srgbClr val="FFFFFF"/>
          </a:solidFill>
          <a:ln w="12700">
            <a:solidFill>
              <a:srgbClr val="E0E0E0"/>
            </a:solidFill>
            <a:prstDash val="solid"/>
          </a:ln>
        </p:spPr>
      </p:sp>
      <p:sp>
        <p:nvSpPr>
          <p:cNvPr id="5" name="Text 3"/>
          <p:cNvSpPr/>
          <p:nvPr/>
        </p:nvSpPr>
        <p:spPr>
          <a:xfrm>
            <a:off x="685800" y="2304288"/>
            <a:ext cx="914400" cy="365760"/>
          </a:xfrm>
          <a:prstGeom prst="rect">
            <a:avLst/>
          </a:prstGeom>
          <a:noFill/>
          <a:ln/>
        </p:spPr>
        <p:txBody>
          <a:bodyPr wrap="square" lIns="0" tIns="0" rIns="0" bIns="0" rtlCol="0" anchor="ctr"/>
          <a:lstStyle/>
          <a:p>
            <a:pPr indent="0" marL="0">
              <a:buNone/>
            </a:pPr>
            <a:r>
              <a:rPr lang="en-US" sz="1800" b="1" dirty="0">
                <a:solidFill>
                  <a:srgbClr val="9E1B32"/>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685800" y="2788920"/>
            <a:ext cx="169164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Discovery</a:t>
            </a:r>
            <a:endParaRPr lang="en-US" sz="1300" dirty="0"/>
          </a:p>
        </p:txBody>
      </p:sp>
      <p:sp>
        <p:nvSpPr>
          <p:cNvPr id="7" name="Text 5"/>
          <p:cNvSpPr/>
          <p:nvPr/>
        </p:nvSpPr>
        <p:spPr>
          <a:xfrm>
            <a:off x="685800" y="3154680"/>
            <a:ext cx="1691640" cy="365760"/>
          </a:xfrm>
          <a:prstGeom prst="rect">
            <a:avLst/>
          </a:prstGeom>
          <a:noFill/>
          <a:ln/>
        </p:spPr>
        <p:txBody>
          <a:bodyPr wrap="square" lIns="0" tIns="0" rIns="0" bIns="0"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Week 1</a:t>
            </a:r>
            <a:endParaRPr lang="en-US" sz="1150" dirty="0"/>
          </a:p>
        </p:txBody>
      </p:sp>
      <p:sp>
        <p:nvSpPr>
          <p:cNvPr id="8" name="Shape 6"/>
          <p:cNvSpPr/>
          <p:nvPr/>
        </p:nvSpPr>
        <p:spPr>
          <a:xfrm>
            <a:off x="2560892" y="2843784"/>
            <a:ext cx="216027" cy="164592"/>
          </a:xfrm>
          <a:prstGeom prst="rightArrow">
            <a:avLst/>
          </a:prstGeom>
          <a:solidFill>
            <a:srgbClr val="6B6B6B"/>
          </a:solidFill>
          <a:ln/>
        </p:spPr>
      </p:sp>
      <p:sp>
        <p:nvSpPr>
          <p:cNvPr id="9" name="Shape 7"/>
          <p:cNvSpPr/>
          <p:nvPr/>
        </p:nvSpPr>
        <p:spPr>
          <a:xfrm>
            <a:off x="2823210" y="2194560"/>
            <a:ext cx="1965960" cy="1463040"/>
          </a:xfrm>
          <a:prstGeom prst="rect">
            <a:avLst/>
          </a:prstGeom>
          <a:solidFill>
            <a:srgbClr val="FFFFFF"/>
          </a:solidFill>
          <a:ln w="12700">
            <a:solidFill>
              <a:srgbClr val="E0E0E0"/>
            </a:solidFill>
            <a:prstDash val="solid"/>
          </a:ln>
        </p:spPr>
      </p:sp>
      <p:sp>
        <p:nvSpPr>
          <p:cNvPr id="10" name="Text 8"/>
          <p:cNvSpPr/>
          <p:nvPr/>
        </p:nvSpPr>
        <p:spPr>
          <a:xfrm>
            <a:off x="2960370" y="2304288"/>
            <a:ext cx="914400" cy="365760"/>
          </a:xfrm>
          <a:prstGeom prst="rect">
            <a:avLst/>
          </a:prstGeom>
          <a:noFill/>
          <a:ln/>
        </p:spPr>
        <p:txBody>
          <a:bodyPr wrap="square" lIns="0" tIns="0" rIns="0" bIns="0" rtlCol="0" anchor="ctr"/>
          <a:lstStyle/>
          <a:p>
            <a:pPr indent="0" marL="0">
              <a:buNone/>
            </a:pPr>
            <a:r>
              <a:rPr lang="en-US" sz="1800" b="1" dirty="0">
                <a:solidFill>
                  <a:srgbClr val="9E1B32"/>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2960370" y="2788920"/>
            <a:ext cx="169164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Development</a:t>
            </a:r>
            <a:endParaRPr lang="en-US" sz="1300" dirty="0"/>
          </a:p>
        </p:txBody>
      </p:sp>
      <p:sp>
        <p:nvSpPr>
          <p:cNvPr id="12" name="Text 10"/>
          <p:cNvSpPr/>
          <p:nvPr/>
        </p:nvSpPr>
        <p:spPr>
          <a:xfrm>
            <a:off x="2960370" y="3154680"/>
            <a:ext cx="1691640" cy="365760"/>
          </a:xfrm>
          <a:prstGeom prst="rect">
            <a:avLst/>
          </a:prstGeom>
          <a:noFill/>
          <a:ln/>
        </p:spPr>
        <p:txBody>
          <a:bodyPr wrap="square" lIns="0" tIns="0" rIns="0" bIns="0"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Weeks 2–3</a:t>
            </a:r>
            <a:endParaRPr lang="en-US" sz="1150" dirty="0"/>
          </a:p>
        </p:txBody>
      </p:sp>
      <p:sp>
        <p:nvSpPr>
          <p:cNvPr id="13" name="Shape 11"/>
          <p:cNvSpPr/>
          <p:nvPr/>
        </p:nvSpPr>
        <p:spPr>
          <a:xfrm>
            <a:off x="4835462" y="2843784"/>
            <a:ext cx="216027" cy="164592"/>
          </a:xfrm>
          <a:prstGeom prst="rightArrow">
            <a:avLst/>
          </a:prstGeom>
          <a:solidFill>
            <a:srgbClr val="6B6B6B"/>
          </a:solidFill>
          <a:ln/>
        </p:spPr>
      </p:sp>
      <p:sp>
        <p:nvSpPr>
          <p:cNvPr id="14" name="Shape 12"/>
          <p:cNvSpPr/>
          <p:nvPr/>
        </p:nvSpPr>
        <p:spPr>
          <a:xfrm>
            <a:off x="5097780" y="2194560"/>
            <a:ext cx="1965960" cy="1463040"/>
          </a:xfrm>
          <a:prstGeom prst="rect">
            <a:avLst/>
          </a:prstGeom>
          <a:solidFill>
            <a:srgbClr val="FFFFFF"/>
          </a:solidFill>
          <a:ln w="12700">
            <a:solidFill>
              <a:srgbClr val="E0E0E0"/>
            </a:solidFill>
            <a:prstDash val="solid"/>
          </a:ln>
        </p:spPr>
      </p:sp>
      <p:sp>
        <p:nvSpPr>
          <p:cNvPr id="15" name="Text 13"/>
          <p:cNvSpPr/>
          <p:nvPr/>
        </p:nvSpPr>
        <p:spPr>
          <a:xfrm>
            <a:off x="5234940" y="2304288"/>
            <a:ext cx="914400" cy="365760"/>
          </a:xfrm>
          <a:prstGeom prst="rect">
            <a:avLst/>
          </a:prstGeom>
          <a:noFill/>
          <a:ln/>
        </p:spPr>
        <p:txBody>
          <a:bodyPr wrap="square" lIns="0" tIns="0" rIns="0" bIns="0" rtlCol="0" anchor="ctr"/>
          <a:lstStyle/>
          <a:p>
            <a:pPr indent="0" marL="0">
              <a:buNone/>
            </a:pPr>
            <a:r>
              <a:rPr lang="en-US" sz="1800" b="1" dirty="0">
                <a:solidFill>
                  <a:srgbClr val="9E1B32"/>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5234940" y="2788920"/>
            <a:ext cx="169164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Integration</a:t>
            </a:r>
            <a:endParaRPr lang="en-US" sz="1300" dirty="0"/>
          </a:p>
        </p:txBody>
      </p:sp>
      <p:sp>
        <p:nvSpPr>
          <p:cNvPr id="17" name="Text 15"/>
          <p:cNvSpPr/>
          <p:nvPr/>
        </p:nvSpPr>
        <p:spPr>
          <a:xfrm>
            <a:off x="5234940" y="3154680"/>
            <a:ext cx="1691640" cy="365760"/>
          </a:xfrm>
          <a:prstGeom prst="rect">
            <a:avLst/>
          </a:prstGeom>
          <a:noFill/>
          <a:ln/>
        </p:spPr>
        <p:txBody>
          <a:bodyPr wrap="square" lIns="0" tIns="0" rIns="0" bIns="0"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Week 4</a:t>
            </a:r>
            <a:endParaRPr lang="en-US" sz="1150" dirty="0"/>
          </a:p>
        </p:txBody>
      </p:sp>
      <p:sp>
        <p:nvSpPr>
          <p:cNvPr id="18" name="Shape 16"/>
          <p:cNvSpPr/>
          <p:nvPr/>
        </p:nvSpPr>
        <p:spPr>
          <a:xfrm>
            <a:off x="7110032" y="2843784"/>
            <a:ext cx="216027" cy="164592"/>
          </a:xfrm>
          <a:prstGeom prst="rightArrow">
            <a:avLst/>
          </a:prstGeom>
          <a:solidFill>
            <a:srgbClr val="6B6B6B"/>
          </a:solidFill>
          <a:ln/>
        </p:spPr>
      </p:sp>
      <p:sp>
        <p:nvSpPr>
          <p:cNvPr id="19" name="Shape 17"/>
          <p:cNvSpPr/>
          <p:nvPr/>
        </p:nvSpPr>
        <p:spPr>
          <a:xfrm>
            <a:off x="7372350" y="2194560"/>
            <a:ext cx="1965960" cy="1463040"/>
          </a:xfrm>
          <a:prstGeom prst="rect">
            <a:avLst/>
          </a:prstGeom>
          <a:solidFill>
            <a:srgbClr val="FFFFFF"/>
          </a:solidFill>
          <a:ln w="12700">
            <a:solidFill>
              <a:srgbClr val="E0E0E0"/>
            </a:solidFill>
            <a:prstDash val="solid"/>
          </a:ln>
        </p:spPr>
      </p:sp>
      <p:sp>
        <p:nvSpPr>
          <p:cNvPr id="20" name="Text 18"/>
          <p:cNvSpPr/>
          <p:nvPr/>
        </p:nvSpPr>
        <p:spPr>
          <a:xfrm>
            <a:off x="7509510" y="2304288"/>
            <a:ext cx="914400" cy="365760"/>
          </a:xfrm>
          <a:prstGeom prst="rect">
            <a:avLst/>
          </a:prstGeom>
          <a:noFill/>
          <a:ln/>
        </p:spPr>
        <p:txBody>
          <a:bodyPr wrap="square" lIns="0" tIns="0" rIns="0" bIns="0" rtlCol="0" anchor="ctr"/>
          <a:lstStyle/>
          <a:p>
            <a:pPr indent="0" marL="0">
              <a:buNone/>
            </a:pPr>
            <a:r>
              <a:rPr lang="en-US" sz="1800" b="1" dirty="0">
                <a:solidFill>
                  <a:srgbClr val="9E1B32"/>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7509510" y="2788920"/>
            <a:ext cx="1691640"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Testing</a:t>
            </a:r>
            <a:endParaRPr lang="en-US" sz="1300" dirty="0"/>
          </a:p>
        </p:txBody>
      </p:sp>
      <p:sp>
        <p:nvSpPr>
          <p:cNvPr id="22" name="Text 20"/>
          <p:cNvSpPr/>
          <p:nvPr/>
        </p:nvSpPr>
        <p:spPr>
          <a:xfrm>
            <a:off x="7509510" y="3154680"/>
            <a:ext cx="1691640" cy="365760"/>
          </a:xfrm>
          <a:prstGeom prst="rect">
            <a:avLst/>
          </a:prstGeom>
          <a:noFill/>
          <a:ln/>
        </p:spPr>
        <p:txBody>
          <a:bodyPr wrap="square" lIns="0" tIns="0" rIns="0" bIns="0"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Week 5</a:t>
            </a:r>
            <a:endParaRPr lang="en-US" sz="1150" dirty="0"/>
          </a:p>
        </p:txBody>
      </p:sp>
      <p:sp>
        <p:nvSpPr>
          <p:cNvPr id="23" name="Shape 21"/>
          <p:cNvSpPr/>
          <p:nvPr/>
        </p:nvSpPr>
        <p:spPr>
          <a:xfrm>
            <a:off x="9384602" y="2843784"/>
            <a:ext cx="216027" cy="164592"/>
          </a:xfrm>
          <a:prstGeom prst="rightArrow">
            <a:avLst/>
          </a:prstGeom>
          <a:solidFill>
            <a:srgbClr val="6B6B6B"/>
          </a:solidFill>
          <a:ln/>
        </p:spPr>
      </p:sp>
      <p:sp>
        <p:nvSpPr>
          <p:cNvPr id="24" name="Shape 22"/>
          <p:cNvSpPr/>
          <p:nvPr/>
        </p:nvSpPr>
        <p:spPr>
          <a:xfrm>
            <a:off x="9646920" y="2194560"/>
            <a:ext cx="1965960" cy="1463040"/>
          </a:xfrm>
          <a:prstGeom prst="rect">
            <a:avLst/>
          </a:prstGeom>
          <a:solidFill>
            <a:srgbClr val="9E1B32"/>
          </a:solidFill>
          <a:ln w="12700">
            <a:solidFill>
              <a:srgbClr val="9E1B32"/>
            </a:solidFill>
            <a:prstDash val="solid"/>
          </a:ln>
        </p:spPr>
      </p:sp>
      <p:sp>
        <p:nvSpPr>
          <p:cNvPr id="25" name="Text 23"/>
          <p:cNvSpPr/>
          <p:nvPr/>
        </p:nvSpPr>
        <p:spPr>
          <a:xfrm>
            <a:off x="9784080" y="2304288"/>
            <a:ext cx="914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9784080" y="2788920"/>
            <a:ext cx="16916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Go-Live</a:t>
            </a:r>
            <a:endParaRPr lang="en-US" sz="1300" dirty="0"/>
          </a:p>
        </p:txBody>
      </p:sp>
      <p:sp>
        <p:nvSpPr>
          <p:cNvPr id="27" name="Text 25"/>
          <p:cNvSpPr/>
          <p:nvPr/>
        </p:nvSpPr>
        <p:spPr>
          <a:xfrm>
            <a:off x="9784080" y="3154680"/>
            <a:ext cx="1691640" cy="365760"/>
          </a:xfrm>
          <a:prstGeom prst="rect">
            <a:avLst/>
          </a:prstGeom>
          <a:noFill/>
          <a:ln/>
        </p:spPr>
        <p:txBody>
          <a:bodyPr wrap="square" lIns="0" tIns="0" rIns="0" bIns="0" rtlCol="0" anchor="ctr"/>
          <a:lstStyle/>
          <a:p>
            <a:pPr indent="0" marL="0">
              <a:buNone/>
            </a:pPr>
            <a:r>
              <a:rPr lang="en-US" sz="1150" dirty="0">
                <a:solidFill>
                  <a:srgbClr val="F0DADD"/>
                </a:solidFill>
                <a:latin typeface="Calibri" pitchFamily="34" charset="0"/>
                <a:ea typeface="Calibri" pitchFamily="34" charset="-122"/>
                <a:cs typeface="Calibri" pitchFamily="34" charset="-120"/>
              </a:rPr>
              <a:t>Week 6</a:t>
            </a:r>
            <a:endParaRPr lang="en-US" sz="1150" dirty="0"/>
          </a:p>
        </p:txBody>
      </p:sp>
      <p:sp>
        <p:nvSpPr>
          <p:cNvPr id="28" name="Text 26"/>
          <p:cNvSpPr/>
          <p:nvPr/>
        </p:nvSpPr>
        <p:spPr>
          <a:xfrm>
            <a:off x="548640" y="4114800"/>
            <a:ext cx="11064240" cy="548640"/>
          </a:xfrm>
          <a:prstGeom prst="rect">
            <a:avLst/>
          </a:prstGeom>
          <a:noFill/>
          <a:ln/>
        </p:spPr>
        <p:txBody>
          <a:bodyPr wrap="square" lIns="0" tIns="0" rIns="0" bIns="0"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Maps to the recommended solution phases: Knowledge Base → AI Chatbot → WhatsApp Integration → Dashboard &amp; Reporting → User Training.</a:t>
            </a:r>
            <a:endParaRPr lang="en-US" sz="1250" dirty="0"/>
          </a:p>
        </p:txBody>
      </p:sp>
      <p:sp>
        <p:nvSpPr>
          <p:cNvPr id="29" name="Text 27"/>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30" name="Text 28"/>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INVESTMENT</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Total project investment: $27,050</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914400"/>
        </p:xfrm>
        <a:graphic>
          <a:graphicData uri="http://schemas.openxmlformats.org/drawingml/2006/table">
            <a:tbl>
              <a:tblPr/>
              <a:tblGrid>
                <a:gridCol w="3931920"/>
                <a:gridCol w="274320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Cost (USD)</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Software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$12,700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Implementation</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$7,600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$1,200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$5,550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bl>
          </a:graphicData>
        </a:graphic>
      </p:graphicFrame>
      <p:sp>
        <p:nvSpPr>
          <p:cNvPr id="5" name="Shape 2"/>
          <p:cNvSpPr/>
          <p:nvPr/>
        </p:nvSpPr>
        <p:spPr>
          <a:xfrm>
            <a:off x="548640" y="4709160"/>
            <a:ext cx="6675120" cy="685800"/>
          </a:xfrm>
          <a:prstGeom prst="rect">
            <a:avLst/>
          </a:prstGeom>
          <a:solidFill>
            <a:srgbClr val="9E1B32"/>
          </a:solidFill>
          <a:ln/>
        </p:spPr>
      </p:sp>
      <p:sp>
        <p:nvSpPr>
          <p:cNvPr id="6" name="Text 3"/>
          <p:cNvSpPr/>
          <p:nvPr/>
        </p:nvSpPr>
        <p:spPr>
          <a:xfrm>
            <a:off x="777240" y="4709160"/>
            <a:ext cx="36576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Project Investment</a:t>
            </a:r>
            <a:endParaRPr lang="en-US" sz="1400" dirty="0"/>
          </a:p>
        </p:txBody>
      </p:sp>
      <p:sp>
        <p:nvSpPr>
          <p:cNvPr id="7" name="Text 4"/>
          <p:cNvSpPr/>
          <p:nvPr/>
        </p:nvSpPr>
        <p:spPr>
          <a:xfrm>
            <a:off x="4206240" y="4709160"/>
            <a:ext cx="2834640" cy="685800"/>
          </a:xfrm>
          <a:prstGeom prst="rect">
            <a:avLst/>
          </a:prstGeom>
          <a:noFill/>
          <a:ln/>
        </p:spPr>
        <p:txBody>
          <a:bodyPr wrap="square" lIns="0" tIns="0" rIns="0" bIns="0"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$27,050</a:t>
            </a:r>
            <a:endParaRPr lang="en-US" sz="2000" dirty="0"/>
          </a:p>
        </p:txBody>
      </p:sp>
      <p:sp>
        <p:nvSpPr>
          <p:cNvPr id="8" name="Shape 5"/>
          <p:cNvSpPr/>
          <p:nvPr/>
        </p:nvSpPr>
        <p:spPr>
          <a:xfrm>
            <a:off x="7589520" y="1792224"/>
            <a:ext cx="82296" cy="82296"/>
          </a:xfrm>
          <a:prstGeom prst="rect">
            <a:avLst/>
          </a:prstGeom>
          <a:solidFill>
            <a:srgbClr val="9E1B32"/>
          </a:solidFill>
          <a:ln/>
        </p:spPr>
      </p:sp>
      <p:sp>
        <p:nvSpPr>
          <p:cNvPr id="9" name="Text 6"/>
          <p:cNvSpPr/>
          <p:nvPr/>
        </p:nvSpPr>
        <p:spPr>
          <a:xfrm>
            <a:off x="7818120" y="1737360"/>
            <a:ext cx="3794760"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Software: AI FAQ Agent, Order Tracking, Returns Agent, Website Chatbot, WhatsApp, Email Automation, Escalation Workflow, Analytics Dashboard</a:t>
            </a:r>
            <a:endParaRPr lang="en-US" sz="1050" dirty="0"/>
          </a:p>
        </p:txBody>
      </p:sp>
      <p:sp>
        <p:nvSpPr>
          <p:cNvPr id="10" name="Shape 7"/>
          <p:cNvSpPr/>
          <p:nvPr/>
        </p:nvSpPr>
        <p:spPr>
          <a:xfrm>
            <a:off x="7589520" y="2706624"/>
            <a:ext cx="82296" cy="82296"/>
          </a:xfrm>
          <a:prstGeom prst="rect">
            <a:avLst/>
          </a:prstGeom>
          <a:solidFill>
            <a:srgbClr val="9E1B32"/>
          </a:solidFill>
          <a:ln/>
        </p:spPr>
      </p:sp>
      <p:sp>
        <p:nvSpPr>
          <p:cNvPr id="11" name="Text 8"/>
          <p:cNvSpPr/>
          <p:nvPr/>
        </p:nvSpPr>
        <p:spPr>
          <a:xfrm>
            <a:off x="7818120" y="2651760"/>
            <a:ext cx="3794760"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Implementation: Discovery Workshop, Business Process Assessment, Knowledge Base Creation, UAT, Project Management</a:t>
            </a:r>
            <a:endParaRPr lang="en-US" sz="1050" dirty="0"/>
          </a:p>
        </p:txBody>
      </p:sp>
      <p:sp>
        <p:nvSpPr>
          <p:cNvPr id="12" name="Shape 9"/>
          <p:cNvSpPr/>
          <p:nvPr/>
        </p:nvSpPr>
        <p:spPr>
          <a:xfrm>
            <a:off x="7589520" y="3621024"/>
            <a:ext cx="82296" cy="82296"/>
          </a:xfrm>
          <a:prstGeom prst="rect">
            <a:avLst/>
          </a:prstGeom>
          <a:solidFill>
            <a:srgbClr val="9E1B32"/>
          </a:solidFill>
          <a:ln/>
        </p:spPr>
      </p:sp>
      <p:sp>
        <p:nvSpPr>
          <p:cNvPr id="13" name="Text 10"/>
          <p:cNvSpPr/>
          <p:nvPr/>
        </p:nvSpPr>
        <p:spPr>
          <a:xfrm>
            <a:off x="7818120" y="3566160"/>
            <a:ext cx="3794760"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Training: Staff Training sessions</a:t>
            </a:r>
            <a:endParaRPr lang="en-US" sz="1050" dirty="0"/>
          </a:p>
        </p:txBody>
      </p:sp>
      <p:sp>
        <p:nvSpPr>
          <p:cNvPr id="14" name="Shape 11"/>
          <p:cNvSpPr/>
          <p:nvPr/>
        </p:nvSpPr>
        <p:spPr>
          <a:xfrm>
            <a:off x="7589520" y="4535424"/>
            <a:ext cx="82296" cy="82296"/>
          </a:xfrm>
          <a:prstGeom prst="rect">
            <a:avLst/>
          </a:prstGeom>
          <a:solidFill>
            <a:srgbClr val="9E1B32"/>
          </a:solidFill>
          <a:ln/>
        </p:spPr>
      </p:sp>
      <p:sp>
        <p:nvSpPr>
          <p:cNvPr id="15" name="Text 12"/>
          <p:cNvSpPr/>
          <p:nvPr/>
        </p:nvSpPr>
        <p:spPr>
          <a:xfrm>
            <a:off x="7818120" y="4480560"/>
            <a:ext cx="3794760"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Support: Hypercare (30 days) + Annual Support &amp; Maintenance</a:t>
            </a:r>
            <a:endParaRPr lang="en-US" sz="1050" dirty="0"/>
          </a:p>
        </p:txBody>
      </p:sp>
      <p:sp>
        <p:nvSpPr>
          <p:cNvPr id="16" name="Text 13"/>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17" name="Text 14"/>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BUSINESS BENEFITS &amp; ROI</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Faster service, lower cost, measurable payback</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743200"/>
                <a:gridCol w="4160520"/>
                <a:gridCol w="416052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E1B32"/>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Response Time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4–6 hrs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&lt;5 min</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Automation Rate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Manual Work</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High (8 agents on all queries)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Reduced — agents focus on complex cases</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Customer Satisfaction</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Current baseline</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Improved</a:t>
                      </a:r>
                      <a:endParaRPr lang="en-US" sz="12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E6E8"/>
                    </a:solidFill>
                  </a:tcPr>
                </a:tc>
              </a:tr>
            </a:tbl>
          </a:graphicData>
        </a:graphic>
      </p:graphicFrame>
      <p:sp>
        <p:nvSpPr>
          <p:cNvPr id="5" name="Text 2"/>
          <p:cNvSpPr/>
          <p:nvPr/>
        </p:nvSpPr>
        <p:spPr>
          <a:xfrm>
            <a:off x="548640" y="4114800"/>
            <a:ext cx="7315200" cy="2103120"/>
          </a:xfrm>
          <a:prstGeom prst="rect">
            <a:avLst/>
          </a:prstGeom>
          <a:noFill/>
          <a:ln/>
        </p:spPr>
        <p:txBody>
          <a:bodyPr wrap="square" lIns="0" tIns="0" rIns="0" bIns="0" rtlCol="0" anchor="t"/>
          <a:lstStyle/>
          <a:p>
            <a:pPr indent="0" marL="0">
              <a:lnSpc>
                <a:spcPct val="130000"/>
              </a:lnSpc>
              <a:buNone/>
            </a:pPr>
            <a:r>
              <a:rPr lang="en-US" sz="1250" dirty="0">
                <a:solidFill>
                  <a:srgbClr val="1A1A1A"/>
                </a:solidFill>
                <a:latin typeface="Calibri" pitchFamily="34" charset="0"/>
                <a:ea typeface="Calibri" pitchFamily="34" charset="-122"/>
                <a:cs typeface="Calibri" pitchFamily="34" charset="-120"/>
              </a:rPr>
              <a:t>Industry benchmarks support a strong business case: comparable mid-sized e-commerce deployments automate 40–60% of routine tickets, cut response times from hours to under 15 minutes, and see ROI payback in 3–6 months — with illustrative annual benefit-to-cost ratios around 300% (e.g., ~$220K annual benefit vs. ~$55K project cost in the reference case). At ABC Electronics' scale, we expect meaningful savings from reduced overtime pressure and avoided new hires as volume grows, plus improved retention from faster, 24/7 service.</a:t>
            </a:r>
            <a:endParaRPr lang="en-US" sz="1250" dirty="0"/>
          </a:p>
        </p:txBody>
      </p:sp>
      <p:sp>
        <p:nvSpPr>
          <p:cNvPr id="6" name="Shape 3"/>
          <p:cNvSpPr/>
          <p:nvPr/>
        </p:nvSpPr>
        <p:spPr>
          <a:xfrm>
            <a:off x="8138160" y="4114800"/>
            <a:ext cx="3474720" cy="914400"/>
          </a:xfrm>
          <a:prstGeom prst="rect">
            <a:avLst/>
          </a:prstGeom>
          <a:solidFill>
            <a:srgbClr val="FFFFFF"/>
          </a:solidFill>
          <a:ln w="12700">
            <a:solidFill>
              <a:srgbClr val="E0E0E0"/>
            </a:solidFill>
            <a:prstDash val="solid"/>
          </a:ln>
        </p:spPr>
      </p:sp>
      <p:sp>
        <p:nvSpPr>
          <p:cNvPr id="7" name="Shape 4"/>
          <p:cNvSpPr/>
          <p:nvPr/>
        </p:nvSpPr>
        <p:spPr>
          <a:xfrm>
            <a:off x="8138160" y="4114800"/>
            <a:ext cx="3474720" cy="54864"/>
          </a:xfrm>
          <a:prstGeom prst="rect">
            <a:avLst/>
          </a:prstGeom>
          <a:solidFill>
            <a:srgbClr val="9E1B32"/>
          </a:solidFill>
          <a:ln/>
        </p:spPr>
      </p:sp>
      <p:sp>
        <p:nvSpPr>
          <p:cNvPr id="8" name="Text 5"/>
          <p:cNvSpPr/>
          <p:nvPr/>
        </p:nvSpPr>
        <p:spPr>
          <a:xfrm>
            <a:off x="8275320" y="4370832"/>
            <a:ext cx="3200400" cy="22860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3–6 mo</a:t>
            </a:r>
            <a:endParaRPr lang="en-US" sz="2600" dirty="0"/>
          </a:p>
        </p:txBody>
      </p:sp>
      <p:sp>
        <p:nvSpPr>
          <p:cNvPr id="9" name="Text 6"/>
          <p:cNvSpPr/>
          <p:nvPr/>
        </p:nvSpPr>
        <p:spPr>
          <a:xfrm>
            <a:off x="8275320" y="4590288"/>
            <a:ext cx="320040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Typical ROI payback (industry benchmark)</a:t>
            </a:r>
            <a:endParaRPr lang="en-US" sz="1100" dirty="0"/>
          </a:p>
        </p:txBody>
      </p:sp>
      <p:sp>
        <p:nvSpPr>
          <p:cNvPr id="10" name="Shape 7"/>
          <p:cNvSpPr/>
          <p:nvPr/>
        </p:nvSpPr>
        <p:spPr>
          <a:xfrm>
            <a:off x="8138160" y="5120640"/>
            <a:ext cx="3474720" cy="914400"/>
          </a:xfrm>
          <a:prstGeom prst="rect">
            <a:avLst/>
          </a:prstGeom>
          <a:solidFill>
            <a:srgbClr val="FFFFFF"/>
          </a:solidFill>
          <a:ln w="12700">
            <a:solidFill>
              <a:srgbClr val="E0E0E0"/>
            </a:solidFill>
            <a:prstDash val="solid"/>
          </a:ln>
        </p:spPr>
      </p:sp>
      <p:sp>
        <p:nvSpPr>
          <p:cNvPr id="11" name="Shape 8"/>
          <p:cNvSpPr/>
          <p:nvPr/>
        </p:nvSpPr>
        <p:spPr>
          <a:xfrm>
            <a:off x="8138160" y="5120640"/>
            <a:ext cx="3474720" cy="54864"/>
          </a:xfrm>
          <a:prstGeom prst="rect">
            <a:avLst/>
          </a:prstGeom>
          <a:solidFill>
            <a:srgbClr val="9E1B32"/>
          </a:solidFill>
          <a:ln/>
        </p:spPr>
      </p:sp>
      <p:sp>
        <p:nvSpPr>
          <p:cNvPr id="12" name="Text 9"/>
          <p:cNvSpPr/>
          <p:nvPr/>
        </p:nvSpPr>
        <p:spPr>
          <a:xfrm>
            <a:off x="8275320" y="5376672"/>
            <a:ext cx="3200400" cy="228600"/>
          </a:xfrm>
          <a:prstGeom prst="rect">
            <a:avLst/>
          </a:prstGeom>
          <a:noFill/>
          <a:ln/>
        </p:spPr>
        <p:txBody>
          <a:bodyPr wrap="square" lIns="0" tIns="0" rIns="0" bIns="0" rtlCol="0" anchor="t"/>
          <a:lstStyle/>
          <a:p>
            <a:pPr algn="l" indent="0" marL="0">
              <a:buNone/>
            </a:pPr>
            <a:r>
              <a:rPr lang="en-US" sz="2600" b="1" dirty="0">
                <a:solidFill>
                  <a:srgbClr val="1A1A1A"/>
                </a:solidFill>
                <a:latin typeface="Calibri" pitchFamily="34" charset="0"/>
                <a:ea typeface="Calibri" pitchFamily="34" charset="-122"/>
                <a:cs typeface="Calibri" pitchFamily="34" charset="-120"/>
              </a:rPr>
              <a:t>~300%</a:t>
            </a:r>
            <a:endParaRPr lang="en-US" sz="2600" dirty="0"/>
          </a:p>
        </p:txBody>
      </p:sp>
      <p:sp>
        <p:nvSpPr>
          <p:cNvPr id="13" name="Text 10"/>
          <p:cNvSpPr/>
          <p:nvPr/>
        </p:nvSpPr>
        <p:spPr>
          <a:xfrm>
            <a:off x="8275320" y="5596128"/>
            <a:ext cx="3200400" cy="365760"/>
          </a:xfrm>
          <a:prstGeom prst="rect">
            <a:avLst/>
          </a:prstGeom>
          <a:noFill/>
          <a:ln/>
        </p:spPr>
        <p:txBody>
          <a:bodyPr wrap="square" lIns="0" tIns="0" rIns="0" bIns="0" rtlCol="0" anchor="ctr"/>
          <a:lstStyle/>
          <a:p>
            <a:pPr algn="l" indent="0" marL="0">
              <a:buNone/>
            </a:pPr>
            <a:r>
              <a:rPr lang="en-US" sz="1100" dirty="0">
                <a:solidFill>
                  <a:srgbClr val="6B6B6B"/>
                </a:solidFill>
                <a:latin typeface="Calibri" pitchFamily="34" charset="0"/>
                <a:ea typeface="Calibri" pitchFamily="34" charset="-122"/>
                <a:cs typeface="Calibri" pitchFamily="34" charset="-120"/>
              </a:rPr>
              <a:t>Illustrative benefit-to-cost ratio</a:t>
            </a:r>
            <a:endParaRPr lang="en-US" sz="1100" dirty="0"/>
          </a:p>
        </p:txBody>
      </p:sp>
      <p:sp>
        <p:nvSpPr>
          <p:cNvPr id="14" name="Text 11"/>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15" name="Text 12"/>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100" kern="0" dirty="0">
                <a:solidFill>
                  <a:srgbClr val="9E1B32"/>
                </a:solidFill>
                <a:latin typeface="Calibri" pitchFamily="34" charset="0"/>
                <a:ea typeface="Calibri" pitchFamily="34" charset="-122"/>
                <a:cs typeface="Calibri" pitchFamily="34" charset="-120"/>
              </a:rPr>
              <a:t>RISKS &amp; ASSUMPTIONS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What could affect delivery, and what we're relying on</a:t>
            </a:r>
            <a:endParaRPr lang="en-US" sz="2800" dirty="0"/>
          </a:p>
        </p:txBody>
      </p:sp>
      <p:sp>
        <p:nvSpPr>
          <p:cNvPr id="4" name="Text 2"/>
          <p:cNvSpPr/>
          <p:nvPr/>
        </p:nvSpPr>
        <p:spPr>
          <a:xfrm>
            <a:off x="548640" y="1645920"/>
            <a:ext cx="5303520" cy="320040"/>
          </a:xfrm>
          <a:prstGeom prst="rect">
            <a:avLst/>
          </a:prstGeom>
          <a:noFill/>
          <a:ln/>
        </p:spPr>
        <p:txBody>
          <a:bodyPr wrap="square" lIns="0" tIns="0" rIns="0" bIns="0" rtlCol="0" anchor="ctr"/>
          <a:lstStyle/>
          <a:p>
            <a:pPr indent="0" marL="0">
              <a:buNone/>
            </a:pPr>
            <a:r>
              <a:rPr lang="en-US" sz="1300" b="1" spc="100" kern="0" dirty="0">
                <a:solidFill>
                  <a:srgbClr val="9E1B32"/>
                </a:solidFill>
                <a:latin typeface="Calibri" pitchFamily="34" charset="0"/>
                <a:ea typeface="Calibri" pitchFamily="34" charset="-122"/>
                <a:cs typeface="Calibri" pitchFamily="34" charset="-120"/>
              </a:rPr>
              <a:t>RISKS</a:t>
            </a:r>
            <a:endParaRPr lang="en-US" sz="1300" dirty="0"/>
          </a:p>
        </p:txBody>
      </p:sp>
      <p:sp>
        <p:nvSpPr>
          <p:cNvPr id="5" name="Shape 3"/>
          <p:cNvSpPr/>
          <p:nvPr/>
        </p:nvSpPr>
        <p:spPr>
          <a:xfrm>
            <a:off x="548640" y="2112264"/>
            <a:ext cx="5303520" cy="914400"/>
          </a:xfrm>
          <a:prstGeom prst="rect">
            <a:avLst/>
          </a:prstGeom>
          <a:solidFill>
            <a:srgbClr val="F5E6E8"/>
          </a:solidFill>
          <a:ln w="12700">
            <a:solidFill>
              <a:srgbClr val="E0E0E0"/>
            </a:solidFill>
            <a:prstDash val="solid"/>
          </a:ln>
        </p:spPr>
      </p:sp>
      <p:sp>
        <p:nvSpPr>
          <p:cNvPr id="6" name="Text 4"/>
          <p:cNvSpPr/>
          <p:nvPr/>
        </p:nvSpPr>
        <p:spPr>
          <a:xfrm>
            <a:off x="731520" y="211226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Knowledge base quality — automation accuracy depends on complete, well-structured FAQ content</a:t>
            </a:r>
            <a:endParaRPr lang="en-US" sz="1150" dirty="0"/>
          </a:p>
        </p:txBody>
      </p:sp>
      <p:sp>
        <p:nvSpPr>
          <p:cNvPr id="7" name="Shape 5"/>
          <p:cNvSpPr/>
          <p:nvPr/>
        </p:nvSpPr>
        <p:spPr>
          <a:xfrm>
            <a:off x="548640" y="3163824"/>
            <a:ext cx="5303520" cy="914400"/>
          </a:xfrm>
          <a:prstGeom prst="rect">
            <a:avLst/>
          </a:prstGeom>
          <a:solidFill>
            <a:srgbClr val="F5E6E8"/>
          </a:solidFill>
          <a:ln w="12700">
            <a:solidFill>
              <a:srgbClr val="E0E0E0"/>
            </a:solidFill>
            <a:prstDash val="solid"/>
          </a:ln>
        </p:spPr>
      </p:sp>
      <p:sp>
        <p:nvSpPr>
          <p:cNvPr id="8" name="Text 6"/>
          <p:cNvSpPr/>
          <p:nvPr/>
        </p:nvSpPr>
        <p:spPr>
          <a:xfrm>
            <a:off x="731520" y="316382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Integration dependencies — timely access to order/returns systems and WhatsApp Business API</a:t>
            </a:r>
            <a:endParaRPr lang="en-US" sz="1150" dirty="0"/>
          </a:p>
        </p:txBody>
      </p:sp>
      <p:sp>
        <p:nvSpPr>
          <p:cNvPr id="9" name="Shape 7"/>
          <p:cNvSpPr/>
          <p:nvPr/>
        </p:nvSpPr>
        <p:spPr>
          <a:xfrm>
            <a:off x="548640" y="4215384"/>
            <a:ext cx="5303520" cy="914400"/>
          </a:xfrm>
          <a:prstGeom prst="rect">
            <a:avLst/>
          </a:prstGeom>
          <a:solidFill>
            <a:srgbClr val="F5E6E8"/>
          </a:solidFill>
          <a:ln w="12700">
            <a:solidFill>
              <a:srgbClr val="E0E0E0"/>
            </a:solidFill>
            <a:prstDash val="solid"/>
          </a:ln>
        </p:spPr>
      </p:sp>
      <p:sp>
        <p:nvSpPr>
          <p:cNvPr id="10" name="Text 8"/>
          <p:cNvSpPr/>
          <p:nvPr/>
        </p:nvSpPr>
        <p:spPr>
          <a:xfrm>
            <a:off x="731520" y="421538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User adoption — agents and customers need a transition/training period</a:t>
            </a:r>
            <a:endParaRPr lang="en-US" sz="1150" dirty="0"/>
          </a:p>
        </p:txBody>
      </p:sp>
      <p:sp>
        <p:nvSpPr>
          <p:cNvPr id="11" name="Text 9"/>
          <p:cNvSpPr/>
          <p:nvPr/>
        </p:nvSpPr>
        <p:spPr>
          <a:xfrm>
            <a:off x="6309360" y="1645920"/>
            <a:ext cx="5303520" cy="320040"/>
          </a:xfrm>
          <a:prstGeom prst="rect">
            <a:avLst/>
          </a:prstGeom>
          <a:noFill/>
          <a:ln/>
        </p:spPr>
        <p:txBody>
          <a:bodyPr wrap="square" lIns="0" tIns="0" rIns="0" bIns="0" rtlCol="0" anchor="ctr"/>
          <a:lstStyle/>
          <a:p>
            <a:pPr indent="0" marL="0">
              <a:buNone/>
            </a:pPr>
            <a:r>
              <a:rPr lang="en-US" sz="1300" b="1" spc="100" kern="0" dirty="0">
                <a:solidFill>
                  <a:srgbClr val="9E1B32"/>
                </a:solidFill>
                <a:latin typeface="Calibri" pitchFamily="34" charset="0"/>
                <a:ea typeface="Calibri" pitchFamily="34" charset="-122"/>
                <a:cs typeface="Calibri" pitchFamily="34" charset="-120"/>
              </a:rPr>
              <a:t>ASSUMPTIONS</a:t>
            </a:r>
            <a:endParaRPr lang="en-US" sz="1300" dirty="0"/>
          </a:p>
        </p:txBody>
      </p:sp>
      <p:sp>
        <p:nvSpPr>
          <p:cNvPr id="12" name="Shape 10"/>
          <p:cNvSpPr/>
          <p:nvPr/>
        </p:nvSpPr>
        <p:spPr>
          <a:xfrm>
            <a:off x="6309360" y="2112264"/>
            <a:ext cx="5303520" cy="914400"/>
          </a:xfrm>
          <a:prstGeom prst="rect">
            <a:avLst/>
          </a:prstGeom>
          <a:solidFill>
            <a:srgbClr val="FFFFFF"/>
          </a:solidFill>
          <a:ln w="12700">
            <a:solidFill>
              <a:srgbClr val="E0E0E0"/>
            </a:solidFill>
            <a:prstDash val="solid"/>
          </a:ln>
        </p:spPr>
      </p:sp>
      <p:sp>
        <p:nvSpPr>
          <p:cNvPr id="13" name="Text 11"/>
          <p:cNvSpPr/>
          <p:nvPr/>
        </p:nvSpPr>
        <p:spPr>
          <a:xfrm>
            <a:off x="6492240" y="211226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Timely access to client systems and data</a:t>
            </a:r>
            <a:endParaRPr lang="en-US" sz="1150" dirty="0"/>
          </a:p>
        </p:txBody>
      </p:sp>
      <p:sp>
        <p:nvSpPr>
          <p:cNvPr id="14" name="Shape 12"/>
          <p:cNvSpPr/>
          <p:nvPr/>
        </p:nvSpPr>
        <p:spPr>
          <a:xfrm>
            <a:off x="6309360" y="3163824"/>
            <a:ext cx="5303520" cy="914400"/>
          </a:xfrm>
          <a:prstGeom prst="rect">
            <a:avLst/>
          </a:prstGeom>
          <a:solidFill>
            <a:srgbClr val="FFFFFF"/>
          </a:solidFill>
          <a:ln w="12700">
            <a:solidFill>
              <a:srgbClr val="E0E0E0"/>
            </a:solidFill>
            <a:prstDash val="solid"/>
          </a:ln>
        </p:spPr>
      </p:sp>
      <p:sp>
        <p:nvSpPr>
          <p:cNvPr id="15" name="Text 13"/>
          <p:cNvSpPr/>
          <p:nvPr/>
        </p:nvSpPr>
        <p:spPr>
          <a:xfrm>
            <a:off x="6492240" y="316382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Stakeholder availability for discovery and UAT</a:t>
            </a:r>
            <a:endParaRPr lang="en-US" sz="1150" dirty="0"/>
          </a:p>
        </p:txBody>
      </p:sp>
      <p:sp>
        <p:nvSpPr>
          <p:cNvPr id="16" name="Shape 14"/>
          <p:cNvSpPr/>
          <p:nvPr/>
        </p:nvSpPr>
        <p:spPr>
          <a:xfrm>
            <a:off x="6309360" y="4215384"/>
            <a:ext cx="5303520" cy="914400"/>
          </a:xfrm>
          <a:prstGeom prst="rect">
            <a:avLst/>
          </a:prstGeom>
          <a:solidFill>
            <a:srgbClr val="FFFFFF"/>
          </a:solidFill>
          <a:ln w="12700">
            <a:solidFill>
              <a:srgbClr val="E0E0E0"/>
            </a:solidFill>
            <a:prstDash val="solid"/>
          </a:ln>
        </p:spPr>
      </p:sp>
      <p:sp>
        <p:nvSpPr>
          <p:cNvPr id="17" name="Text 15"/>
          <p:cNvSpPr/>
          <p:nvPr/>
        </p:nvSpPr>
        <p:spPr>
          <a:xfrm>
            <a:off x="6492240" y="4215384"/>
            <a:ext cx="4937760" cy="91440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FAQ content reviewed and approved by client within agreed timeline</a:t>
            </a:r>
            <a:endParaRPr lang="en-US" sz="1150" dirty="0"/>
          </a:p>
        </p:txBody>
      </p:sp>
      <p:sp>
        <p:nvSpPr>
          <p:cNvPr id="18" name="Text 16"/>
          <p:cNvSpPr/>
          <p:nvPr/>
        </p:nvSpPr>
        <p:spPr>
          <a:xfrm>
            <a:off x="457200" y="6492240"/>
            <a:ext cx="8686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ABC Electronics  |  AI Customer Support Automation Proposal  |  Confidential</a:t>
            </a:r>
            <a:endParaRPr lang="en-US" sz="900" dirty="0"/>
          </a:p>
        </p:txBody>
      </p:sp>
      <p:sp>
        <p:nvSpPr>
          <p:cNvPr id="19" name="Text 17"/>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A"/>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200" b="1" spc="200" kern="0" dirty="0">
                <a:solidFill>
                  <a:srgbClr val="C0394B"/>
                </a:solidFill>
                <a:latin typeface="Calibri" pitchFamily="34" charset="0"/>
                <a:ea typeface="Calibri" pitchFamily="34" charset="-122"/>
                <a:cs typeface="Calibri" pitchFamily="34" charset="-120"/>
              </a:rPr>
              <a:t>NEXT STEPS</a:t>
            </a:r>
            <a:endParaRPr lang="en-US" sz="1200" dirty="0"/>
          </a:p>
        </p:txBody>
      </p:sp>
      <p:sp>
        <p:nvSpPr>
          <p:cNvPr id="4" name="Text 2"/>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get started</a:t>
            </a:r>
            <a:endParaRPr lang="en-US" sz="3000" dirty="0"/>
          </a:p>
        </p:txBody>
      </p:sp>
      <p:sp>
        <p:nvSpPr>
          <p:cNvPr id="5" name="Shape 3"/>
          <p:cNvSpPr/>
          <p:nvPr/>
        </p:nvSpPr>
        <p:spPr>
          <a:xfrm>
            <a:off x="548640" y="1920240"/>
            <a:ext cx="2057400" cy="1371600"/>
          </a:xfrm>
          <a:prstGeom prst="rect">
            <a:avLst/>
          </a:prstGeom>
          <a:solidFill>
            <a:srgbClr val="262626"/>
          </a:solidFill>
          <a:ln w="12700">
            <a:solidFill>
              <a:srgbClr val="3A3A3A"/>
            </a:solidFill>
            <a:prstDash val="solid"/>
          </a:ln>
        </p:spPr>
      </p:sp>
      <p:sp>
        <p:nvSpPr>
          <p:cNvPr id="6" name="Text 4"/>
          <p:cNvSpPr/>
          <p:nvPr/>
        </p:nvSpPr>
        <p:spPr>
          <a:xfrm>
            <a:off x="685800" y="2029968"/>
            <a:ext cx="914400" cy="411480"/>
          </a:xfrm>
          <a:prstGeom prst="rect">
            <a:avLst/>
          </a:prstGeom>
          <a:noFill/>
          <a:ln/>
        </p:spPr>
        <p:txBody>
          <a:bodyPr wrap="square" lIns="0" tIns="0" rIns="0" bIns="0" rtlCol="0" anchor="ctr"/>
          <a:lstStyle/>
          <a:p>
            <a:pPr indent="0" marL="0">
              <a:buNone/>
            </a:pPr>
            <a:r>
              <a:rPr lang="en-US" sz="2000" b="1" dirty="0">
                <a:solidFill>
                  <a:srgbClr val="C0394B"/>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85800" y="2514600"/>
            <a:ext cx="178308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Project approval</a:t>
            </a:r>
            <a:endParaRPr lang="en-US" sz="1200" dirty="0"/>
          </a:p>
        </p:txBody>
      </p:sp>
      <p:sp>
        <p:nvSpPr>
          <p:cNvPr id="8" name="Shape 6"/>
          <p:cNvSpPr/>
          <p:nvPr/>
        </p:nvSpPr>
        <p:spPr>
          <a:xfrm>
            <a:off x="2635187" y="2523744"/>
            <a:ext cx="136017" cy="164592"/>
          </a:xfrm>
          <a:prstGeom prst="rightArrow">
            <a:avLst/>
          </a:prstGeom>
          <a:solidFill>
            <a:srgbClr val="6B6B6B"/>
          </a:solidFill>
          <a:ln/>
        </p:spPr>
      </p:sp>
      <p:sp>
        <p:nvSpPr>
          <p:cNvPr id="9" name="Shape 7"/>
          <p:cNvSpPr/>
          <p:nvPr/>
        </p:nvSpPr>
        <p:spPr>
          <a:xfrm>
            <a:off x="2800350" y="1920240"/>
            <a:ext cx="2057400" cy="1371600"/>
          </a:xfrm>
          <a:prstGeom prst="rect">
            <a:avLst/>
          </a:prstGeom>
          <a:solidFill>
            <a:srgbClr val="262626"/>
          </a:solidFill>
          <a:ln w="12700">
            <a:solidFill>
              <a:srgbClr val="3A3A3A"/>
            </a:solidFill>
            <a:prstDash val="solid"/>
          </a:ln>
        </p:spPr>
      </p:sp>
      <p:sp>
        <p:nvSpPr>
          <p:cNvPr id="10" name="Text 8"/>
          <p:cNvSpPr/>
          <p:nvPr/>
        </p:nvSpPr>
        <p:spPr>
          <a:xfrm>
            <a:off x="2937510" y="2029968"/>
            <a:ext cx="914400" cy="411480"/>
          </a:xfrm>
          <a:prstGeom prst="rect">
            <a:avLst/>
          </a:prstGeom>
          <a:noFill/>
          <a:ln/>
        </p:spPr>
        <p:txBody>
          <a:bodyPr wrap="square" lIns="0" tIns="0" rIns="0" bIns="0" rtlCol="0" anchor="ctr"/>
          <a:lstStyle/>
          <a:p>
            <a:pPr indent="0" marL="0">
              <a:buNone/>
            </a:pPr>
            <a:r>
              <a:rPr lang="en-US" sz="2000" b="1" dirty="0">
                <a:solidFill>
                  <a:srgbClr val="C0394B"/>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2937510" y="2514600"/>
            <a:ext cx="178308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Contract signing</a:t>
            </a:r>
            <a:endParaRPr lang="en-US" sz="1200" dirty="0"/>
          </a:p>
        </p:txBody>
      </p:sp>
      <p:sp>
        <p:nvSpPr>
          <p:cNvPr id="12" name="Shape 10"/>
          <p:cNvSpPr/>
          <p:nvPr/>
        </p:nvSpPr>
        <p:spPr>
          <a:xfrm>
            <a:off x="4886897" y="2523744"/>
            <a:ext cx="136017" cy="164592"/>
          </a:xfrm>
          <a:prstGeom prst="rightArrow">
            <a:avLst/>
          </a:prstGeom>
          <a:solidFill>
            <a:srgbClr val="6B6B6B"/>
          </a:solidFill>
          <a:ln/>
        </p:spPr>
      </p:sp>
      <p:sp>
        <p:nvSpPr>
          <p:cNvPr id="13" name="Shape 11"/>
          <p:cNvSpPr/>
          <p:nvPr/>
        </p:nvSpPr>
        <p:spPr>
          <a:xfrm>
            <a:off x="5052060" y="1920240"/>
            <a:ext cx="2057400" cy="1371600"/>
          </a:xfrm>
          <a:prstGeom prst="rect">
            <a:avLst/>
          </a:prstGeom>
          <a:solidFill>
            <a:srgbClr val="262626"/>
          </a:solidFill>
          <a:ln w="12700">
            <a:solidFill>
              <a:srgbClr val="3A3A3A"/>
            </a:solidFill>
            <a:prstDash val="solid"/>
          </a:ln>
        </p:spPr>
      </p:sp>
      <p:sp>
        <p:nvSpPr>
          <p:cNvPr id="14" name="Text 12"/>
          <p:cNvSpPr/>
          <p:nvPr/>
        </p:nvSpPr>
        <p:spPr>
          <a:xfrm>
            <a:off x="5189220" y="2029968"/>
            <a:ext cx="914400" cy="411480"/>
          </a:xfrm>
          <a:prstGeom prst="rect">
            <a:avLst/>
          </a:prstGeom>
          <a:noFill/>
          <a:ln/>
        </p:spPr>
        <p:txBody>
          <a:bodyPr wrap="square" lIns="0" tIns="0" rIns="0" bIns="0" rtlCol="0" anchor="ctr"/>
          <a:lstStyle/>
          <a:p>
            <a:pPr indent="0" marL="0">
              <a:buNone/>
            </a:pPr>
            <a:r>
              <a:rPr lang="en-US" sz="2000" b="1" dirty="0">
                <a:solidFill>
                  <a:srgbClr val="C0394B"/>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5189220" y="2514600"/>
            <a:ext cx="178308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Discovery workshop</a:t>
            </a:r>
            <a:endParaRPr lang="en-US" sz="1200" dirty="0"/>
          </a:p>
        </p:txBody>
      </p:sp>
      <p:sp>
        <p:nvSpPr>
          <p:cNvPr id="16" name="Shape 14"/>
          <p:cNvSpPr/>
          <p:nvPr/>
        </p:nvSpPr>
        <p:spPr>
          <a:xfrm>
            <a:off x="7138607" y="2523744"/>
            <a:ext cx="136017" cy="164592"/>
          </a:xfrm>
          <a:prstGeom prst="rightArrow">
            <a:avLst/>
          </a:prstGeom>
          <a:solidFill>
            <a:srgbClr val="6B6B6B"/>
          </a:solidFill>
          <a:ln/>
        </p:spPr>
      </p:sp>
      <p:sp>
        <p:nvSpPr>
          <p:cNvPr id="17" name="Shape 15"/>
          <p:cNvSpPr/>
          <p:nvPr/>
        </p:nvSpPr>
        <p:spPr>
          <a:xfrm>
            <a:off x="7303770" y="1920240"/>
            <a:ext cx="2057400" cy="1371600"/>
          </a:xfrm>
          <a:prstGeom prst="rect">
            <a:avLst/>
          </a:prstGeom>
          <a:solidFill>
            <a:srgbClr val="262626"/>
          </a:solidFill>
          <a:ln w="12700">
            <a:solidFill>
              <a:srgbClr val="3A3A3A"/>
            </a:solidFill>
            <a:prstDash val="solid"/>
          </a:ln>
        </p:spPr>
      </p:sp>
      <p:sp>
        <p:nvSpPr>
          <p:cNvPr id="18" name="Text 16"/>
          <p:cNvSpPr/>
          <p:nvPr/>
        </p:nvSpPr>
        <p:spPr>
          <a:xfrm>
            <a:off x="7440930" y="2029968"/>
            <a:ext cx="914400" cy="411480"/>
          </a:xfrm>
          <a:prstGeom prst="rect">
            <a:avLst/>
          </a:prstGeom>
          <a:noFill/>
          <a:ln/>
        </p:spPr>
        <p:txBody>
          <a:bodyPr wrap="square" lIns="0" tIns="0" rIns="0" bIns="0" rtlCol="0" anchor="ctr"/>
          <a:lstStyle/>
          <a:p>
            <a:pPr indent="0" marL="0">
              <a:buNone/>
            </a:pPr>
            <a:r>
              <a:rPr lang="en-US" sz="2000" b="1" dirty="0">
                <a:solidFill>
                  <a:srgbClr val="C0394B"/>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7440930" y="2514600"/>
            <a:ext cx="178308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Knowledge collection</a:t>
            </a:r>
            <a:endParaRPr lang="en-US" sz="1200" dirty="0"/>
          </a:p>
        </p:txBody>
      </p:sp>
      <p:sp>
        <p:nvSpPr>
          <p:cNvPr id="20" name="Shape 18"/>
          <p:cNvSpPr/>
          <p:nvPr/>
        </p:nvSpPr>
        <p:spPr>
          <a:xfrm>
            <a:off x="9390317" y="2523744"/>
            <a:ext cx="136017" cy="164592"/>
          </a:xfrm>
          <a:prstGeom prst="rightArrow">
            <a:avLst/>
          </a:prstGeom>
          <a:solidFill>
            <a:srgbClr val="6B6B6B"/>
          </a:solidFill>
          <a:ln/>
        </p:spPr>
      </p:sp>
      <p:sp>
        <p:nvSpPr>
          <p:cNvPr id="21" name="Shape 19"/>
          <p:cNvSpPr/>
          <p:nvPr/>
        </p:nvSpPr>
        <p:spPr>
          <a:xfrm>
            <a:off x="9555480" y="1920240"/>
            <a:ext cx="2057400" cy="1371600"/>
          </a:xfrm>
          <a:prstGeom prst="rect">
            <a:avLst/>
          </a:prstGeom>
          <a:solidFill>
            <a:srgbClr val="262626"/>
          </a:solidFill>
          <a:ln w="12700">
            <a:solidFill>
              <a:srgbClr val="3A3A3A"/>
            </a:solidFill>
            <a:prstDash val="solid"/>
          </a:ln>
        </p:spPr>
      </p:sp>
      <p:sp>
        <p:nvSpPr>
          <p:cNvPr id="22" name="Text 20"/>
          <p:cNvSpPr/>
          <p:nvPr/>
        </p:nvSpPr>
        <p:spPr>
          <a:xfrm>
            <a:off x="9692640" y="2029968"/>
            <a:ext cx="914400" cy="411480"/>
          </a:xfrm>
          <a:prstGeom prst="rect">
            <a:avLst/>
          </a:prstGeom>
          <a:noFill/>
          <a:ln/>
        </p:spPr>
        <p:txBody>
          <a:bodyPr wrap="square" lIns="0" tIns="0" rIns="0" bIns="0" rtlCol="0" anchor="ctr"/>
          <a:lstStyle/>
          <a:p>
            <a:pPr indent="0" marL="0">
              <a:buNone/>
            </a:pPr>
            <a:r>
              <a:rPr lang="en-US" sz="2000" b="1" dirty="0">
                <a:solidFill>
                  <a:srgbClr val="C0394B"/>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9692640" y="2514600"/>
            <a:ext cx="1783080" cy="6858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Project kickoff</a:t>
            </a:r>
            <a:endParaRPr lang="en-US" sz="1200" dirty="0"/>
          </a:p>
        </p:txBody>
      </p:sp>
      <p:sp>
        <p:nvSpPr>
          <p:cNvPr id="24" name="Shape 22"/>
          <p:cNvSpPr/>
          <p:nvPr/>
        </p:nvSpPr>
        <p:spPr>
          <a:xfrm>
            <a:off x="548640" y="4023360"/>
            <a:ext cx="11064240" cy="1737360"/>
          </a:xfrm>
          <a:prstGeom prst="rect">
            <a:avLst/>
          </a:prstGeom>
          <a:solidFill>
            <a:srgbClr val="262626"/>
          </a:solidFill>
          <a:ln w="12700">
            <a:solidFill>
              <a:srgbClr val="3A3A3A"/>
            </a:solidFill>
            <a:prstDash val="solid"/>
          </a:ln>
        </p:spPr>
      </p:sp>
      <p:sp>
        <p:nvSpPr>
          <p:cNvPr id="25" name="Text 23"/>
          <p:cNvSpPr/>
          <p:nvPr/>
        </p:nvSpPr>
        <p:spPr>
          <a:xfrm>
            <a:off x="822960" y="4251960"/>
            <a:ext cx="9144000" cy="365760"/>
          </a:xfrm>
          <a:prstGeom prst="rect">
            <a:avLst/>
          </a:prstGeom>
          <a:noFill/>
          <a:ln/>
        </p:spPr>
        <p:txBody>
          <a:bodyPr wrap="square" lIns="0" tIns="0" rIns="0" bIns="0" rtlCol="0" anchor="ctr"/>
          <a:lstStyle/>
          <a:p>
            <a:pPr indent="0" marL="0">
              <a:buNone/>
            </a:pPr>
            <a:r>
              <a:rPr lang="en-US" sz="1400" b="1" dirty="0">
                <a:solidFill>
                  <a:srgbClr val="C0394B"/>
                </a:solidFill>
                <a:latin typeface="Calibri" pitchFamily="34" charset="0"/>
                <a:ea typeface="Calibri" pitchFamily="34" charset="-122"/>
                <a:cs typeface="Calibri" pitchFamily="34" charset="-120"/>
              </a:rPr>
              <a:t>Questions &amp; Contact Information</a:t>
            </a:r>
            <a:endParaRPr lang="en-US" sz="1400" dirty="0"/>
          </a:p>
        </p:txBody>
      </p:sp>
      <p:sp>
        <p:nvSpPr>
          <p:cNvPr id="26" name="Text 24"/>
          <p:cNvSpPr/>
          <p:nvPr/>
        </p:nvSpPr>
        <p:spPr>
          <a:xfrm>
            <a:off x="822960" y="4709160"/>
            <a:ext cx="457200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[Consultant Name]</a:t>
            </a:r>
            <a:endParaRPr lang="en-US" sz="1300" dirty="0"/>
          </a:p>
        </p:txBody>
      </p:sp>
      <p:sp>
        <p:nvSpPr>
          <p:cNvPr id="27" name="Text 25"/>
          <p:cNvSpPr/>
          <p:nvPr/>
        </p:nvSpPr>
        <p:spPr>
          <a:xfrm>
            <a:off x="822960" y="5029200"/>
            <a:ext cx="4572000" cy="320040"/>
          </a:xfrm>
          <a:prstGeom prst="rect">
            <a:avLst/>
          </a:prstGeom>
          <a:noFill/>
          <a:ln/>
        </p:spPr>
        <p:txBody>
          <a:bodyPr wrap="square" lIns="0" tIns="0" rIns="0" bIns="0" rtlCol="0" anchor="ctr"/>
          <a:lstStyle/>
          <a:p>
            <a:pPr indent="0" marL="0">
              <a:buNone/>
            </a:pPr>
            <a:r>
              <a:rPr lang="en-US" sz="1300" dirty="0">
                <a:solidFill>
                  <a:srgbClr val="CFCFCF"/>
                </a:solidFill>
                <a:latin typeface="Calibri" pitchFamily="34" charset="0"/>
                <a:ea typeface="Calibri" pitchFamily="34" charset="-122"/>
                <a:cs typeface="Calibri" pitchFamily="34" charset="-120"/>
              </a:rPr>
              <a:t>[email@example.com]</a:t>
            </a:r>
            <a:endParaRPr lang="en-US" sz="1300" dirty="0"/>
          </a:p>
        </p:txBody>
      </p:sp>
      <p:sp>
        <p:nvSpPr>
          <p:cNvPr id="28" name="Text 26"/>
          <p:cNvSpPr/>
          <p:nvPr/>
        </p:nvSpPr>
        <p:spPr>
          <a:xfrm>
            <a:off x="822960" y="5349240"/>
            <a:ext cx="4572000" cy="320040"/>
          </a:xfrm>
          <a:prstGeom prst="rect">
            <a:avLst/>
          </a:prstGeom>
          <a:noFill/>
          <a:ln/>
        </p:spPr>
        <p:txBody>
          <a:bodyPr wrap="square" lIns="0" tIns="0" rIns="0" bIns="0" rtlCol="0" anchor="ctr"/>
          <a:lstStyle/>
          <a:p>
            <a:pPr indent="0" marL="0">
              <a:buNone/>
            </a:pPr>
            <a:r>
              <a:rPr lang="en-US" sz="1300" dirty="0">
                <a:solidFill>
                  <a:srgbClr val="CFCFCF"/>
                </a:solidFill>
                <a:latin typeface="Calibri" pitchFamily="34" charset="0"/>
                <a:ea typeface="Calibri" pitchFamily="34" charset="-122"/>
                <a:cs typeface="Calibri" pitchFamily="34" charset="-120"/>
              </a:rPr>
              <a:t>[phone number]</a:t>
            </a:r>
            <a:endParaRPr lang="en-US" sz="1300" dirty="0"/>
          </a:p>
        </p:txBody>
      </p:sp>
      <p:sp>
        <p:nvSpPr>
          <p:cNvPr id="29" name="Text 27"/>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2026-07-26T16:27:00Z</dcterms:created>
  <dcterms:modified xsi:type="dcterms:W3CDTF">2026-07-26T16:27:00Z</dcterms:modified>
</cp:coreProperties>
</file>